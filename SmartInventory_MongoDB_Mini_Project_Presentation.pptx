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68096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1645920"/>
            <a:ext cx="3840480" cy="384048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 y="2651760"/>
            <a:ext cx="1828800" cy="18288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0" y="4754880"/>
            <a:ext cx="2926080" cy="29260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280160"/>
            <a:ext cx="6400800" cy="4206240"/>
          </a:xfrm>
          <a:prstGeom prst="rect">
            <a:avLst/>
          </a:prstGeom>
          <a:noFill/>
        </p:spPr>
        <p:txBody>
          <a:bodyPr wrap="square">
            <a:spAutoFit/>
          </a:bodyPr>
          <a:lstStyle/>
          <a:p>
            <a:pPr>
              <a:spcAft>
                <a:spcPts val="1400"/>
              </a:spcAft>
              <a:defRPr b="1" sz="1300">
                <a:solidFill>
                  <a:srgbClr val="DBEAFE"/>
                </a:solidFill>
                <a:latin typeface="Calibri"/>
              </a:defRPr>
            </a:pPr>
            <a:r>
              <a:t>FULL-STACK MERN &amp; MONGODB ATLAS CAPSTONE</a:t>
            </a:r>
          </a:p>
          <a:p>
            <a:pPr>
              <a:defRPr b="1" sz="4800">
                <a:solidFill>
                  <a:srgbClr val="FFFFFF"/>
                </a:solidFill>
                <a:latin typeface="Calibri"/>
              </a:defRPr>
            </a:pPr>
            <a:r>
              <a:t>SmartInventory</a:t>
            </a:r>
          </a:p>
          <a:p>
            <a:pPr>
              <a:spcBef>
                <a:spcPts val="800"/>
              </a:spcBef>
              <a:defRPr b="1" sz="2200">
                <a:solidFill>
                  <a:srgbClr val="FFFFFF"/>
                </a:solidFill>
                <a:latin typeface="Calibri"/>
              </a:defRPr>
            </a:pPr>
            <a:r>
              <a:t>Real-Time Warehouse &amp; Stock Management Platform</a:t>
            </a:r>
          </a:p>
          <a:p>
            <a:pPr>
              <a:spcBef>
                <a:spcPts val="1400"/>
              </a:spcBef>
              <a:defRPr sz="1400">
                <a:solidFill>
                  <a:srgbClr val="FFFFFF"/>
                </a:solidFill>
                <a:latin typeface="Calibri"/>
              </a:defRPr>
            </a:pPr>
            <a:r>
              <a:t>A modern internal management system featuring atomic multi-document transactions, zero-negative-stock protection, real-time threshold monitoring, and complete audit logging.</a:t>
            </a:r>
          </a:p>
        </p:txBody>
      </p:sp>
      <p:sp>
        <p:nvSpPr>
          <p:cNvPr id="8" name="Rounded Rectangle 7"/>
          <p:cNvSpPr/>
          <p:nvPr/>
        </p:nvSpPr>
        <p:spPr>
          <a:xfrm>
            <a:off x="8046720" y="1097280"/>
            <a:ext cx="365760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280160"/>
            <a:ext cx="3108960" cy="4389120"/>
          </a:xfrm>
          <a:prstGeom prst="rect">
            <a:avLst/>
          </a:prstGeom>
          <a:noFill/>
        </p:spPr>
        <p:txBody>
          <a:bodyPr wrap="square">
            <a:spAutoFit/>
          </a:bodyPr>
          <a:lstStyle/>
          <a:p>
            <a:pPr>
              <a:spcAft>
                <a:spcPts val="1600"/>
              </a:spcAft>
              <a:defRPr b="1" sz="1300">
                <a:solidFill>
                  <a:srgbClr val="2563EB"/>
                </a:solidFill>
              </a:defRPr>
            </a:pPr>
            <a:r>
              <a:t>PROJECT EVALUATION</a:t>
            </a:r>
          </a:p>
          <a:p>
            <a:pPr>
              <a:spcAft>
                <a:spcPts val="600"/>
              </a:spcAft>
            </a:pPr>
            <a:r>
              <a:rPr b="1" sz="1150">
                <a:solidFill>
                  <a:srgbClr val="0F172A"/>
                </a:solidFill>
              </a:rPr>
              <a:t>Candidate Name:
</a:t>
            </a:r>
            <a:r>
              <a:rPr sz="1350">
                <a:solidFill>
                  <a:srgbClr val="2563EB"/>
                </a:solidFill>
              </a:rPr>
              <a:t>Shubham Kumar</a:t>
            </a:r>
          </a:p>
          <a:p>
            <a:pPr>
              <a:spcAft>
                <a:spcPts val="600"/>
              </a:spcAft>
            </a:pPr>
            <a:r>
              <a:rPr b="1" sz="1150">
                <a:solidFill>
                  <a:srgbClr val="0F172A"/>
                </a:solidFill>
              </a:rPr>
              <a:t>Registration No.:
</a:t>
            </a:r>
            <a:r>
              <a:rPr sz="1350">
                <a:solidFill>
                  <a:srgbClr val="334155"/>
                </a:solidFill>
              </a:rPr>
              <a:t>12315449</a:t>
            </a:r>
          </a:p>
          <a:p>
            <a:pPr>
              <a:spcAft>
                <a:spcPts val="600"/>
              </a:spcAft>
            </a:pPr>
            <a:r>
              <a:rPr b="1" sz="1150">
                <a:solidFill>
                  <a:srgbClr val="0F172A"/>
                </a:solidFill>
              </a:rPr>
              <a:t>Degree &amp; Branch:
</a:t>
            </a:r>
            <a:r>
              <a:rPr sz="1350">
                <a:solidFill>
                  <a:srgbClr val="334155"/>
                </a:solidFill>
              </a:rPr>
              <a:t>B.Tech Computer Science &amp; Engg.</a:t>
            </a:r>
          </a:p>
          <a:p>
            <a:pPr>
              <a:spcAft>
                <a:spcPts val="600"/>
              </a:spcAft>
            </a:pPr>
            <a:r>
              <a:rPr b="1" sz="1150">
                <a:solidFill>
                  <a:srgbClr val="0F172A"/>
                </a:solidFill>
              </a:rPr>
              <a:t>Department:
</a:t>
            </a:r>
            <a:r>
              <a:rPr sz="1350">
                <a:solidFill>
                  <a:srgbClr val="334155"/>
                </a:solidFill>
              </a:rPr>
              <a:t>School of Computer Science &amp; Engg.</a:t>
            </a:r>
          </a:p>
          <a:p>
            <a:pPr>
              <a:spcAft>
                <a:spcPts val="600"/>
              </a:spcAft>
            </a:pPr>
            <a:r>
              <a:rPr b="1" sz="1150">
                <a:solidFill>
                  <a:srgbClr val="0F172A"/>
                </a:solidFill>
              </a:rPr>
              <a:t>Institution:
</a:t>
            </a:r>
            <a:r>
              <a:rPr sz="1350">
                <a:solidFill>
                  <a:srgbClr val="334155"/>
                </a:solidFill>
              </a:rPr>
              <a:t>Lovely Professional University</a:t>
            </a:r>
          </a:p>
          <a:p>
            <a:pPr>
              <a:spcAft>
                <a:spcPts val="600"/>
              </a:spcAft>
            </a:pPr>
            <a:r>
              <a:rPr b="1" sz="1150">
                <a:solidFill>
                  <a:srgbClr val="0F172A"/>
                </a:solidFill>
              </a:rPr>
              <a:t>Course:
</a:t>
            </a:r>
            <a:r>
              <a:rPr sz="1350">
                <a:solidFill>
                  <a:srgbClr val="334155"/>
                </a:solidFill>
              </a:rPr>
              <a:t>MongoDB Database Design Mini-Project</a:t>
            </a:r>
          </a:p>
          <a:p>
            <a:pPr>
              <a:spcAft>
                <a:spcPts val="600"/>
              </a:spcAft>
            </a:pPr>
            <a:r>
              <a:rPr b="1" sz="1150">
                <a:solidFill>
                  <a:srgbClr val="0F172A"/>
                </a:solidFill>
              </a:rPr>
              <a:t>Academic Year:
</a:t>
            </a:r>
            <a:r>
              <a:rPr sz="1350">
                <a:solidFill>
                  <a:srgbClr val="334155"/>
                </a:solidFill>
              </a:rPr>
              <a:t>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CONTEXT &amp; PURPOSE • THE WHY BEHIND SMARTINVENTORY</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Project Overview &amp; Real-World Motivation</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ounded Rectangle 7"/>
          <p:cNvSpPr/>
          <p:nvPr/>
        </p:nvSpPr>
        <p:spPr>
          <a:xfrm>
            <a:off x="731520" y="1371600"/>
            <a:ext cx="4114800" cy="393192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3749039" cy="3566160"/>
          </a:xfrm>
          <a:prstGeom prst="rect">
            <a:avLst/>
          </a:prstGeom>
          <a:noFill/>
        </p:spPr>
        <p:txBody>
          <a:bodyPr wrap="square">
            <a:spAutoFit/>
          </a:bodyPr>
          <a:lstStyle/>
          <a:p>
            <a:pPr>
              <a:spcAft>
                <a:spcPts val="800"/>
              </a:spcAft>
              <a:defRPr b="1" sz="2000">
                <a:solidFill>
                  <a:srgbClr val="2563EB"/>
                </a:solidFill>
              </a:defRPr>
            </a:pPr>
            <a:r>
              <a:t>The Core Mission</a:t>
            </a:r>
          </a:p>
          <a:p>
            <a:pPr>
              <a:spcAft>
                <a:spcPts val="1200"/>
              </a:spcAft>
              <a:defRPr sz="1400">
                <a:solidFill>
                  <a:srgbClr val="334155"/>
                </a:solidFill>
              </a:defRPr>
            </a:pPr>
            <a:r>
              <a:t>Most growing businesses face a critical dilemma: manual spreadsheets (Excel/Google Sheets) cause costly stockouts, while enterprise ERPs (like SAP or Oracle) cost tens of thousands of dollars and require months of training.</a:t>
            </a:r>
          </a:p>
          <a:p>
            <a:pPr>
              <a:defRPr sz="1400">
                <a:solidFill>
                  <a:srgbClr val="334155"/>
                </a:solidFill>
              </a:defRPr>
            </a:pPr>
            <a:r>
              <a:t>SmartInventory provides the ideal sweet spot: a fast, intuitive, full-stack internal management portal that eliminates phantom stock, enforces atomic inventory updates, and automates reorder alerts without software bloat.</a:t>
            </a:r>
          </a:p>
        </p:txBody>
      </p:sp>
      <p:sp>
        <p:nvSpPr>
          <p:cNvPr id="10" name="Rounded Rectangle 9"/>
          <p:cNvSpPr/>
          <p:nvPr/>
        </p:nvSpPr>
        <p:spPr>
          <a:xfrm>
            <a:off x="5120640" y="1371600"/>
            <a:ext cx="6309360" cy="1188720"/>
          </a:xfrm>
          <a:prstGeom prst="roundRect">
            <a:avLst/>
          </a:prstGeom>
          <a:solidFill>
            <a:srgbClr val="FFFFFF"/>
          </a:solidFill>
          <a:ln w="19050">
            <a:solidFill>
              <a:srgbClr val="EA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303520" y="1600200"/>
            <a:ext cx="685800" cy="6858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01</a:t>
            </a:r>
          </a:p>
        </p:txBody>
      </p:sp>
      <p:sp>
        <p:nvSpPr>
          <p:cNvPr id="12" name="TextBox 11"/>
          <p:cNvSpPr txBox="1"/>
          <p:nvPr/>
        </p:nvSpPr>
        <p:spPr>
          <a:xfrm>
            <a:off x="6217920" y="1481328"/>
            <a:ext cx="5029200" cy="960120"/>
          </a:xfrm>
          <a:prstGeom prst="rect">
            <a:avLst/>
          </a:prstGeom>
          <a:noFill/>
        </p:spPr>
        <p:txBody>
          <a:bodyPr wrap="square" lIns="0" tIns="0" rIns="0" bIns="0">
            <a:spAutoFit/>
          </a:bodyPr>
          <a:lstStyle/>
          <a:p>
            <a:pPr>
              <a:defRPr b="1" sz="1550">
                <a:solidFill>
                  <a:srgbClr val="0F172A"/>
                </a:solidFill>
              </a:defRPr>
            </a:pPr>
            <a:r>
              <a:t>Eliminating Costly Phantom Inventory</a:t>
            </a:r>
          </a:p>
          <a:p>
            <a:pPr>
              <a:spcBef>
                <a:spcPts val="300"/>
              </a:spcBef>
              <a:defRPr sz="1300">
                <a:solidFill>
                  <a:srgbClr val="334155"/>
                </a:solidFill>
              </a:defRPr>
            </a:pPr>
            <a:r>
              <a:t>When stock records on paper or spreadsheets disagree with physical warehouse shelves, shipments are delayed and customers leave. SmartInventory guarantees 100% record accuracy.</a:t>
            </a:r>
          </a:p>
        </p:txBody>
      </p:sp>
      <p:sp>
        <p:nvSpPr>
          <p:cNvPr id="13" name="Rounded Rectangle 12"/>
          <p:cNvSpPr/>
          <p:nvPr/>
        </p:nvSpPr>
        <p:spPr>
          <a:xfrm>
            <a:off x="5120640" y="2697480"/>
            <a:ext cx="6309360" cy="1188720"/>
          </a:xfrm>
          <a:prstGeom prst="roundRect">
            <a:avLst/>
          </a:prstGeom>
          <a:solidFill>
            <a:srgbClr val="FFFFFF"/>
          </a:solidFill>
          <a:ln w="19050">
            <a:solidFill>
              <a:srgbClr val="EA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303520" y="2926080"/>
            <a:ext cx="685800" cy="6858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02</a:t>
            </a:r>
          </a:p>
        </p:txBody>
      </p:sp>
      <p:sp>
        <p:nvSpPr>
          <p:cNvPr id="15" name="TextBox 14"/>
          <p:cNvSpPr txBox="1"/>
          <p:nvPr/>
        </p:nvSpPr>
        <p:spPr>
          <a:xfrm>
            <a:off x="6217920" y="2807208"/>
            <a:ext cx="5029200" cy="960120"/>
          </a:xfrm>
          <a:prstGeom prst="rect">
            <a:avLst/>
          </a:prstGeom>
          <a:noFill/>
        </p:spPr>
        <p:txBody>
          <a:bodyPr wrap="square" lIns="0" tIns="0" rIns="0" bIns="0">
            <a:spAutoFit/>
          </a:bodyPr>
          <a:lstStyle/>
          <a:p>
            <a:pPr>
              <a:defRPr b="1" sz="1550">
                <a:solidFill>
                  <a:srgbClr val="0F172A"/>
                </a:solidFill>
              </a:defRPr>
            </a:pPr>
            <a:r>
              <a:t>Instant Operational Transparency</a:t>
            </a:r>
          </a:p>
          <a:p>
            <a:pPr>
              <a:spcBef>
                <a:spcPts val="300"/>
              </a:spcBef>
              <a:defRPr sz="1300">
                <a:solidFill>
                  <a:srgbClr val="334155"/>
                </a:solidFill>
              </a:defRPr>
            </a:pPr>
            <a:r>
              <a:t>Storekeepers and managers get a unified view of warehouse counts, supplier details, low-stock warnings, and historical logs across any device in real time.</a:t>
            </a:r>
          </a:p>
        </p:txBody>
      </p:sp>
      <p:sp>
        <p:nvSpPr>
          <p:cNvPr id="16" name="Rounded Rectangle 15"/>
          <p:cNvSpPr/>
          <p:nvPr/>
        </p:nvSpPr>
        <p:spPr>
          <a:xfrm>
            <a:off x="5120640" y="4023360"/>
            <a:ext cx="6309360" cy="1188720"/>
          </a:xfrm>
          <a:prstGeom prst="roundRect">
            <a:avLst/>
          </a:prstGeom>
          <a:solidFill>
            <a:srgbClr val="FFFFFF"/>
          </a:solidFill>
          <a:ln w="19050">
            <a:solidFill>
              <a:srgbClr val="EA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03520" y="4251960"/>
            <a:ext cx="685800" cy="6858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03</a:t>
            </a:r>
          </a:p>
        </p:txBody>
      </p:sp>
      <p:sp>
        <p:nvSpPr>
          <p:cNvPr id="18" name="TextBox 17"/>
          <p:cNvSpPr txBox="1"/>
          <p:nvPr/>
        </p:nvSpPr>
        <p:spPr>
          <a:xfrm>
            <a:off x="6217920" y="4133088"/>
            <a:ext cx="5029200" cy="960120"/>
          </a:xfrm>
          <a:prstGeom prst="rect">
            <a:avLst/>
          </a:prstGeom>
          <a:noFill/>
        </p:spPr>
        <p:txBody>
          <a:bodyPr wrap="square" lIns="0" tIns="0" rIns="0" bIns="0">
            <a:spAutoFit/>
          </a:bodyPr>
          <a:lstStyle/>
          <a:p>
            <a:pPr>
              <a:defRPr b="1" sz="1550">
                <a:solidFill>
                  <a:srgbClr val="0F172A"/>
                </a:solidFill>
              </a:defRPr>
            </a:pPr>
            <a:r>
              <a:t>Auditable Accountability &amp; Compliance</a:t>
            </a:r>
          </a:p>
          <a:p>
            <a:pPr>
              <a:spcBef>
                <a:spcPts val="300"/>
              </a:spcBef>
              <a:defRPr sz="1300">
                <a:solidFill>
                  <a:srgbClr val="334155"/>
                </a:solidFill>
              </a:defRPr>
            </a:pPr>
            <a:r>
              <a:t>Every single item entering or leaving the warehouse is permanently stamped with the authenticated user ID, transaction timestamp, and reference note.</a:t>
            </a:r>
          </a:p>
        </p:txBody>
      </p:sp>
      <p:sp>
        <p:nvSpPr>
          <p:cNvPr id="19" name="Rounded Rectangle 18"/>
          <p:cNvSpPr/>
          <p:nvPr/>
        </p:nvSpPr>
        <p:spPr>
          <a:xfrm>
            <a:off x="731520" y="5486400"/>
            <a:ext cx="10698480" cy="8229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559552"/>
            <a:ext cx="10332720" cy="67665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"Begin by explaining why small-to-medium businesses struggle today. They outgrow Excel sheets because multiple staff edit them without controls, but they cannot afford multi-million dollar ERPs. SmartInventory solves this exact practical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PROBLEM STATEMENT • WHY MANUAL &amp; SPREADSHEET METHODS FAIL</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The 4 Core Breakdown Points in Traditional Warehousing</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ounded Rectangle 7"/>
          <p:cNvSpPr/>
          <p:nvPr/>
        </p:nvSpPr>
        <p:spPr>
          <a:xfrm>
            <a:off x="731520" y="1371600"/>
            <a:ext cx="2542032" cy="3931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00200" y="1536192"/>
            <a:ext cx="731520" cy="7315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01</a:t>
            </a:r>
          </a:p>
        </p:txBody>
      </p:sp>
      <p:sp>
        <p:nvSpPr>
          <p:cNvPr id="10" name="TextBox 9"/>
          <p:cNvSpPr txBox="1"/>
          <p:nvPr/>
        </p:nvSpPr>
        <p:spPr>
          <a:xfrm>
            <a:off x="822960" y="2331720"/>
            <a:ext cx="2359152" cy="411480"/>
          </a:xfrm>
          <a:prstGeom prst="rect">
            <a:avLst/>
          </a:prstGeom>
          <a:noFill/>
        </p:spPr>
        <p:txBody>
          <a:bodyPr wrap="none">
            <a:spAutoFit/>
          </a:bodyPr>
          <a:lstStyle/>
          <a:p>
            <a:pPr algn="ctr">
              <a:defRPr b="1" sz="1600">
                <a:solidFill>
                  <a:srgbClr val="2563EB"/>
                </a:solidFill>
              </a:defRPr>
            </a:pPr>
            <a:r>
              <a:t>Concurrency Chaos</a:t>
            </a:r>
          </a:p>
        </p:txBody>
      </p:sp>
      <p:sp>
        <p:nvSpPr>
          <p:cNvPr id="11" name="Rounded Rectangle 10"/>
          <p:cNvSpPr/>
          <p:nvPr/>
        </p:nvSpPr>
        <p:spPr>
          <a:xfrm>
            <a:off x="841248" y="2788920"/>
            <a:ext cx="2322576" cy="11887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34640"/>
            <a:ext cx="2176272" cy="1097280"/>
          </a:xfrm>
          <a:prstGeom prst="rect">
            <a:avLst/>
          </a:prstGeom>
          <a:noFill/>
        </p:spPr>
        <p:txBody>
          <a:bodyPr wrap="square" lIns="0" tIns="0" rIns="0" bIns="0">
            <a:spAutoFit/>
          </a:bodyPr>
          <a:lstStyle/>
          <a:p>
            <a:r>
              <a:rPr b="1" sz="1200">
                <a:solidFill>
                  <a:srgbClr val="0F172A"/>
                </a:solidFill>
              </a:rPr>
              <a:t>What Happens: </a:t>
            </a:r>
            <a:r>
              <a:rPr sz="1250">
                <a:solidFill>
                  <a:srgbClr val="334155"/>
                </a:solidFill>
              </a:rPr>
              <a:t>When two warehouse clerks log dispatches simultaneously in shared spreadsheets, rows overwrite silently without locking.</a:t>
            </a:r>
          </a:p>
        </p:txBody>
      </p:sp>
      <p:sp>
        <p:nvSpPr>
          <p:cNvPr id="13" name="Rounded Rectangle 12"/>
          <p:cNvSpPr/>
          <p:nvPr/>
        </p:nvSpPr>
        <p:spPr>
          <a:xfrm>
            <a:off x="841248" y="4069080"/>
            <a:ext cx="2322576"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14800"/>
            <a:ext cx="2176272" cy="1005840"/>
          </a:xfrm>
          <a:prstGeom prst="rect">
            <a:avLst/>
          </a:prstGeom>
          <a:noFill/>
        </p:spPr>
        <p:txBody>
          <a:bodyPr wrap="square" lIns="0" tIns="0" rIns="0" bIns="0">
            <a:spAutoFit/>
          </a:bodyPr>
          <a:lstStyle/>
          <a:p>
            <a:r>
              <a:rPr b="1" sz="1200">
                <a:solidFill>
                  <a:srgbClr val="0F172A"/>
                </a:solidFill>
              </a:rPr>
              <a:t>Business Impact: </a:t>
            </a:r>
            <a:r>
              <a:rPr sz="1250">
                <a:solidFill>
                  <a:srgbClr val="64748B"/>
                </a:solidFill>
              </a:rPr>
              <a:t>Leads to negative stock balances and phantom inventory on physical shelves.</a:t>
            </a:r>
          </a:p>
        </p:txBody>
      </p:sp>
      <p:sp>
        <p:nvSpPr>
          <p:cNvPr id="15" name="Rounded Rectangle 14"/>
          <p:cNvSpPr/>
          <p:nvPr/>
        </p:nvSpPr>
        <p:spPr>
          <a:xfrm>
            <a:off x="3429000" y="1371600"/>
            <a:ext cx="2542032" cy="39319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297680" y="1536192"/>
            <a:ext cx="731520" cy="7315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02</a:t>
            </a:r>
          </a:p>
        </p:txBody>
      </p:sp>
      <p:sp>
        <p:nvSpPr>
          <p:cNvPr id="17" name="TextBox 16"/>
          <p:cNvSpPr txBox="1"/>
          <p:nvPr/>
        </p:nvSpPr>
        <p:spPr>
          <a:xfrm>
            <a:off x="3520440" y="2331720"/>
            <a:ext cx="2359152" cy="411480"/>
          </a:xfrm>
          <a:prstGeom prst="rect">
            <a:avLst/>
          </a:prstGeom>
          <a:noFill/>
        </p:spPr>
        <p:txBody>
          <a:bodyPr wrap="none">
            <a:spAutoFit/>
          </a:bodyPr>
          <a:lstStyle/>
          <a:p>
            <a:pPr algn="ctr">
              <a:defRPr b="1" sz="1600">
                <a:solidFill>
                  <a:srgbClr val="10B981"/>
                </a:solidFill>
              </a:defRPr>
            </a:pPr>
            <a:r>
              <a:t>Zero Audit Trail</a:t>
            </a:r>
          </a:p>
        </p:txBody>
      </p:sp>
      <p:sp>
        <p:nvSpPr>
          <p:cNvPr id="18" name="Rounded Rectangle 17"/>
          <p:cNvSpPr/>
          <p:nvPr/>
        </p:nvSpPr>
        <p:spPr>
          <a:xfrm>
            <a:off x="3538728" y="2788920"/>
            <a:ext cx="2322576" cy="118872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2834640"/>
            <a:ext cx="2176272" cy="1097280"/>
          </a:xfrm>
          <a:prstGeom prst="rect">
            <a:avLst/>
          </a:prstGeom>
          <a:noFill/>
        </p:spPr>
        <p:txBody>
          <a:bodyPr wrap="square" lIns="0" tIns="0" rIns="0" bIns="0">
            <a:spAutoFit/>
          </a:bodyPr>
          <a:lstStyle/>
          <a:p>
            <a:r>
              <a:rPr b="1" sz="1200">
                <a:solidFill>
                  <a:srgbClr val="0F172A"/>
                </a:solidFill>
              </a:rPr>
              <a:t>What Happens: </a:t>
            </a:r>
            <a:r>
              <a:rPr sz="1250">
                <a:solidFill>
                  <a:srgbClr val="334155"/>
                </a:solidFill>
              </a:rPr>
              <a:t>Standard spreadsheets allow any staff member to modify or delete numbers with zero history of who touched it or why.</a:t>
            </a:r>
          </a:p>
        </p:txBody>
      </p:sp>
      <p:sp>
        <p:nvSpPr>
          <p:cNvPr id="20" name="Rounded Rectangle 19"/>
          <p:cNvSpPr/>
          <p:nvPr/>
        </p:nvSpPr>
        <p:spPr>
          <a:xfrm>
            <a:off x="3538728" y="4069080"/>
            <a:ext cx="2322576"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11880" y="4114800"/>
            <a:ext cx="2176272" cy="1005840"/>
          </a:xfrm>
          <a:prstGeom prst="rect">
            <a:avLst/>
          </a:prstGeom>
          <a:noFill/>
        </p:spPr>
        <p:txBody>
          <a:bodyPr wrap="square" lIns="0" tIns="0" rIns="0" bIns="0">
            <a:spAutoFit/>
          </a:bodyPr>
          <a:lstStyle/>
          <a:p>
            <a:r>
              <a:rPr b="1" sz="1200">
                <a:solidFill>
                  <a:srgbClr val="0F172A"/>
                </a:solidFill>
              </a:rPr>
              <a:t>Business Impact: </a:t>
            </a:r>
            <a:r>
              <a:rPr sz="1250">
                <a:solidFill>
                  <a:srgbClr val="64748B"/>
                </a:solidFill>
              </a:rPr>
              <a:t>Internal shrinkage, theft, and delivery discrepancies become completely untraceable.</a:t>
            </a:r>
          </a:p>
        </p:txBody>
      </p:sp>
      <p:sp>
        <p:nvSpPr>
          <p:cNvPr id="22" name="Rounded Rectangle 21"/>
          <p:cNvSpPr/>
          <p:nvPr/>
        </p:nvSpPr>
        <p:spPr>
          <a:xfrm>
            <a:off x="6126480" y="1371600"/>
            <a:ext cx="2542032" cy="39319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995160" y="1536192"/>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03</a:t>
            </a:r>
          </a:p>
        </p:txBody>
      </p:sp>
      <p:sp>
        <p:nvSpPr>
          <p:cNvPr id="24" name="TextBox 23"/>
          <p:cNvSpPr txBox="1"/>
          <p:nvPr/>
        </p:nvSpPr>
        <p:spPr>
          <a:xfrm>
            <a:off x="6217920" y="2331720"/>
            <a:ext cx="2359152" cy="411480"/>
          </a:xfrm>
          <a:prstGeom prst="rect">
            <a:avLst/>
          </a:prstGeom>
          <a:noFill/>
        </p:spPr>
        <p:txBody>
          <a:bodyPr wrap="none">
            <a:spAutoFit/>
          </a:bodyPr>
          <a:lstStyle/>
          <a:p>
            <a:pPr algn="ctr">
              <a:defRPr b="1" sz="1600">
                <a:solidFill>
                  <a:srgbClr val="F59E0B"/>
                </a:solidFill>
              </a:defRPr>
            </a:pPr>
            <a:r>
              <a:t>Stockout Surprises</a:t>
            </a:r>
          </a:p>
        </p:txBody>
      </p:sp>
      <p:sp>
        <p:nvSpPr>
          <p:cNvPr id="25" name="Rounded Rectangle 24"/>
          <p:cNvSpPr/>
          <p:nvPr/>
        </p:nvSpPr>
        <p:spPr>
          <a:xfrm>
            <a:off x="6236208" y="2788920"/>
            <a:ext cx="2322576" cy="1188720"/>
          </a:xfrm>
          <a:prstGeom prst="roundRect">
            <a:avLst/>
          </a:prstGeom>
          <a:solidFill>
            <a:srgbClr val="FFFBE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834640"/>
            <a:ext cx="2176272" cy="1097280"/>
          </a:xfrm>
          <a:prstGeom prst="rect">
            <a:avLst/>
          </a:prstGeom>
          <a:noFill/>
        </p:spPr>
        <p:txBody>
          <a:bodyPr wrap="square" lIns="0" tIns="0" rIns="0" bIns="0">
            <a:spAutoFit/>
          </a:bodyPr>
          <a:lstStyle/>
          <a:p>
            <a:r>
              <a:rPr b="1" sz="1200">
                <a:solidFill>
                  <a:srgbClr val="0F172A"/>
                </a:solidFill>
              </a:rPr>
              <a:t>What Happens: </a:t>
            </a:r>
            <a:r>
              <a:rPr sz="1250">
                <a:solidFill>
                  <a:srgbClr val="334155"/>
                </a:solidFill>
              </a:rPr>
              <a:t>Managers have no automated warnings when fast-moving items reach dangerous depletion thresholds.</a:t>
            </a:r>
          </a:p>
        </p:txBody>
      </p:sp>
      <p:sp>
        <p:nvSpPr>
          <p:cNvPr id="27" name="Rounded Rectangle 26"/>
          <p:cNvSpPr/>
          <p:nvPr/>
        </p:nvSpPr>
        <p:spPr>
          <a:xfrm>
            <a:off x="6236208" y="4069080"/>
            <a:ext cx="2322576"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4114800"/>
            <a:ext cx="2176272" cy="1005840"/>
          </a:xfrm>
          <a:prstGeom prst="rect">
            <a:avLst/>
          </a:prstGeom>
          <a:noFill/>
        </p:spPr>
        <p:txBody>
          <a:bodyPr wrap="square" lIns="0" tIns="0" rIns="0" bIns="0">
            <a:spAutoFit/>
          </a:bodyPr>
          <a:lstStyle/>
          <a:p>
            <a:r>
              <a:rPr b="1" sz="1200">
                <a:solidFill>
                  <a:srgbClr val="0F172A"/>
                </a:solidFill>
              </a:rPr>
              <a:t>Business Impact: </a:t>
            </a:r>
            <a:r>
              <a:rPr sz="1250">
                <a:solidFill>
                  <a:srgbClr val="64748B"/>
                </a:solidFill>
              </a:rPr>
              <a:t>Orders get accepted but cannot be fulfilled, causing lost customer trust and delayed dispatches.</a:t>
            </a:r>
          </a:p>
        </p:txBody>
      </p:sp>
      <p:sp>
        <p:nvSpPr>
          <p:cNvPr id="29" name="Rounded Rectangle 28"/>
          <p:cNvSpPr/>
          <p:nvPr/>
        </p:nvSpPr>
        <p:spPr>
          <a:xfrm>
            <a:off x="8823960" y="1371600"/>
            <a:ext cx="2542032" cy="393192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0" y="1536192"/>
            <a:ext cx="731520" cy="73152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04</a:t>
            </a:r>
          </a:p>
        </p:txBody>
      </p:sp>
      <p:sp>
        <p:nvSpPr>
          <p:cNvPr id="31" name="TextBox 30"/>
          <p:cNvSpPr txBox="1"/>
          <p:nvPr/>
        </p:nvSpPr>
        <p:spPr>
          <a:xfrm>
            <a:off x="8915400" y="2331720"/>
            <a:ext cx="2359152" cy="411480"/>
          </a:xfrm>
          <a:prstGeom prst="rect">
            <a:avLst/>
          </a:prstGeom>
          <a:noFill/>
        </p:spPr>
        <p:txBody>
          <a:bodyPr wrap="none">
            <a:spAutoFit/>
          </a:bodyPr>
          <a:lstStyle/>
          <a:p>
            <a:pPr algn="ctr">
              <a:defRPr b="1" sz="1600">
                <a:solidFill>
                  <a:srgbClr val="EF4444"/>
                </a:solidFill>
              </a:defRPr>
            </a:pPr>
            <a:r>
              <a:t>Data Corruption</a:t>
            </a:r>
          </a:p>
        </p:txBody>
      </p:sp>
      <p:sp>
        <p:nvSpPr>
          <p:cNvPr id="32" name="Rounded Rectangle 31"/>
          <p:cNvSpPr/>
          <p:nvPr/>
        </p:nvSpPr>
        <p:spPr>
          <a:xfrm>
            <a:off x="8933688" y="2788920"/>
            <a:ext cx="2322576" cy="1188720"/>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06840" y="2834640"/>
            <a:ext cx="2176272" cy="1097280"/>
          </a:xfrm>
          <a:prstGeom prst="rect">
            <a:avLst/>
          </a:prstGeom>
          <a:noFill/>
        </p:spPr>
        <p:txBody>
          <a:bodyPr wrap="square" lIns="0" tIns="0" rIns="0" bIns="0">
            <a:spAutoFit/>
          </a:bodyPr>
          <a:lstStyle/>
          <a:p>
            <a:r>
              <a:rPr b="1" sz="1200">
                <a:solidFill>
                  <a:srgbClr val="0F172A"/>
                </a:solidFill>
              </a:rPr>
              <a:t>What Happens: </a:t>
            </a:r>
            <a:r>
              <a:rPr sz="1250">
                <a:solidFill>
                  <a:srgbClr val="334155"/>
                </a:solidFill>
              </a:rPr>
              <a:t>Hard-deleting a discontinued product in traditional tables permanently breaks past billing records.</a:t>
            </a:r>
          </a:p>
        </p:txBody>
      </p:sp>
      <p:sp>
        <p:nvSpPr>
          <p:cNvPr id="34" name="Rounded Rectangle 33"/>
          <p:cNvSpPr/>
          <p:nvPr/>
        </p:nvSpPr>
        <p:spPr>
          <a:xfrm>
            <a:off x="8933688" y="4069080"/>
            <a:ext cx="2322576"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40" y="4114800"/>
            <a:ext cx="2176272" cy="1005840"/>
          </a:xfrm>
          <a:prstGeom prst="rect">
            <a:avLst/>
          </a:prstGeom>
          <a:noFill/>
        </p:spPr>
        <p:txBody>
          <a:bodyPr wrap="square" lIns="0" tIns="0" rIns="0" bIns="0">
            <a:spAutoFit/>
          </a:bodyPr>
          <a:lstStyle/>
          <a:p>
            <a:r>
              <a:rPr b="1" sz="1200">
                <a:solidFill>
                  <a:srgbClr val="EF4444"/>
                </a:solidFill>
              </a:rPr>
              <a:t>Business Impact: </a:t>
            </a:r>
            <a:r>
              <a:rPr sz="1250">
                <a:solidFill>
                  <a:srgbClr val="64748B"/>
                </a:solidFill>
              </a:rPr>
              <a:t>Orphans historical transaction rows and corrupts financial year-end tax calculations.</a:t>
            </a:r>
          </a:p>
        </p:txBody>
      </p:sp>
      <p:sp>
        <p:nvSpPr>
          <p:cNvPr id="36" name="Rounded Rectangle 35"/>
          <p:cNvSpPr/>
          <p:nvPr/>
        </p:nvSpPr>
        <p:spPr>
          <a:xfrm>
            <a:off x="731520" y="5486400"/>
            <a:ext cx="10698480" cy="8229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559552"/>
            <a:ext cx="10332720" cy="67665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"Walk the evaluation panel across these 4 cards. Explain that concurrency overwrites cause phantom stock, lack of logs invites theft, missing threshold alerts cause emergency delays, and hard deletes break tax audits."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CORE SOLUTION • HOW OUR SYSTEM FIXES EVERY BREAKDOWN</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The SmartInventory Solution Architecture</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Oval 7"/>
          <p:cNvSpPr/>
          <p:nvPr/>
        </p:nvSpPr>
        <p:spPr>
          <a:xfrm>
            <a:off x="4709160" y="2011680"/>
            <a:ext cx="2743200" cy="2743200"/>
          </a:xfrm>
          <a:prstGeom prst="ellipse">
            <a:avLst/>
          </a:prstGeom>
          <a:solidFill>
            <a:srgbClr val="F59E0B"/>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200">
                <a:solidFill>
                  <a:srgbClr val="FFFFFF"/>
                </a:solidFill>
              </a:defRPr>
            </a:pPr>
            <a:r>
              <a:t>SMART</a:t>
            </a:r>
            <a:br/>
            <a:r>
              <a:t>INVENTORY</a:t>
            </a:r>
          </a:p>
          <a:p>
            <a:pPr algn="ctr">
              <a:defRPr sz="1200">
                <a:solidFill>
                  <a:srgbClr val="FFFFFF"/>
                </a:solidFill>
              </a:defRPr>
            </a:pPr>
            <a:r>
              <a:t>Central Operational Hub</a:t>
            </a:r>
          </a:p>
        </p:txBody>
      </p:sp>
      <p:sp>
        <p:nvSpPr>
          <p:cNvPr id="9" name="Rounded Rectangle 8"/>
          <p:cNvSpPr/>
          <p:nvPr/>
        </p:nvSpPr>
        <p:spPr>
          <a:xfrm>
            <a:off x="731520" y="1371600"/>
            <a:ext cx="3657600" cy="19202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1554480"/>
            <a:ext cx="594360" cy="5943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500">
                <a:solidFill>
                  <a:srgbClr val="FFFFFF"/>
                </a:solidFill>
                <a:latin typeface="Calibri"/>
              </a:defRPr>
            </a:pPr>
            <a:r>
              <a:t>01</a:t>
            </a:r>
          </a:p>
        </p:txBody>
      </p:sp>
      <p:sp>
        <p:nvSpPr>
          <p:cNvPr id="11" name="TextBox 10"/>
          <p:cNvSpPr txBox="1"/>
          <p:nvPr/>
        </p:nvSpPr>
        <p:spPr>
          <a:xfrm>
            <a:off x="1600200" y="1508760"/>
            <a:ext cx="2651760" cy="457200"/>
          </a:xfrm>
          <a:prstGeom prst="rect">
            <a:avLst/>
          </a:prstGeom>
          <a:noFill/>
        </p:spPr>
        <p:txBody>
          <a:bodyPr wrap="square" lIns="0" tIns="0" rIns="0" bIns="0">
            <a:spAutoFit/>
          </a:bodyPr>
          <a:lstStyle/>
          <a:p>
            <a:pPr>
              <a:defRPr b="1" sz="1500">
                <a:solidFill>
                  <a:srgbClr val="0F172A"/>
                </a:solidFill>
              </a:defRPr>
            </a:pPr>
            <a:r>
              <a:t>Real-Time Multi-Warehouse Tracking</a:t>
            </a:r>
          </a:p>
        </p:txBody>
      </p:sp>
      <p:sp>
        <p:nvSpPr>
          <p:cNvPr id="12" name="TextBox 11"/>
          <p:cNvSpPr txBox="1"/>
          <p:nvPr/>
        </p:nvSpPr>
        <p:spPr>
          <a:xfrm>
            <a:off x="914400" y="2148840"/>
            <a:ext cx="3291840" cy="1051560"/>
          </a:xfrm>
          <a:prstGeom prst="rect">
            <a:avLst/>
          </a:prstGeom>
          <a:noFill/>
        </p:spPr>
        <p:txBody>
          <a:bodyPr wrap="square" lIns="0" tIns="0" rIns="0" bIns="0">
            <a:spAutoFit/>
          </a:bodyPr>
          <a:lstStyle/>
          <a:p>
            <a:pPr>
              <a:defRPr sz="1300">
                <a:solidFill>
                  <a:srgbClr val="334155"/>
                </a:solidFill>
              </a:defRPr>
            </a:pPr>
            <a:r>
              <a:t>Provides an instantaneous, unified stock ledger across multiple storage locations with live quantity updates, eliminating manual spreadsheet consolidation.</a:t>
            </a:r>
          </a:p>
        </p:txBody>
      </p:sp>
      <p:sp>
        <p:nvSpPr>
          <p:cNvPr id="13" name="Rounded Rectangle 12"/>
          <p:cNvSpPr/>
          <p:nvPr/>
        </p:nvSpPr>
        <p:spPr>
          <a:xfrm>
            <a:off x="731520" y="3474720"/>
            <a:ext cx="3657600" cy="19202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657600"/>
            <a:ext cx="594360" cy="5943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500">
                <a:solidFill>
                  <a:srgbClr val="FFFFFF"/>
                </a:solidFill>
                <a:latin typeface="Calibri"/>
              </a:defRPr>
            </a:pPr>
            <a:r>
              <a:t>02</a:t>
            </a:r>
          </a:p>
        </p:txBody>
      </p:sp>
      <p:sp>
        <p:nvSpPr>
          <p:cNvPr id="15" name="TextBox 14"/>
          <p:cNvSpPr txBox="1"/>
          <p:nvPr/>
        </p:nvSpPr>
        <p:spPr>
          <a:xfrm>
            <a:off x="1600200" y="3611880"/>
            <a:ext cx="2651760" cy="457200"/>
          </a:xfrm>
          <a:prstGeom prst="rect">
            <a:avLst/>
          </a:prstGeom>
          <a:noFill/>
        </p:spPr>
        <p:txBody>
          <a:bodyPr wrap="square" lIns="0" tIns="0" rIns="0" bIns="0">
            <a:spAutoFit/>
          </a:bodyPr>
          <a:lstStyle/>
          <a:p>
            <a:pPr>
              <a:defRPr b="1" sz="1500">
                <a:solidFill>
                  <a:srgbClr val="0F172A"/>
                </a:solidFill>
              </a:defRPr>
            </a:pPr>
            <a:r>
              <a:t>Zero-Negative-Stock Guard</a:t>
            </a:r>
          </a:p>
        </p:txBody>
      </p:sp>
      <p:sp>
        <p:nvSpPr>
          <p:cNvPr id="16" name="TextBox 15"/>
          <p:cNvSpPr txBox="1"/>
          <p:nvPr/>
        </p:nvSpPr>
        <p:spPr>
          <a:xfrm>
            <a:off x="914400" y="4251960"/>
            <a:ext cx="3291840" cy="1051560"/>
          </a:xfrm>
          <a:prstGeom prst="rect">
            <a:avLst/>
          </a:prstGeom>
          <a:noFill/>
        </p:spPr>
        <p:txBody>
          <a:bodyPr wrap="square" lIns="0" tIns="0" rIns="0" bIns="0">
            <a:spAutoFit/>
          </a:bodyPr>
          <a:lstStyle/>
          <a:p>
            <a:pPr>
              <a:defRPr sz="1300">
                <a:solidFill>
                  <a:srgbClr val="334155"/>
                </a:solidFill>
              </a:defRPr>
            </a:pPr>
            <a:r>
              <a:t>A two-tier validation barrier (React UI check + atomic MongoDB backend conditional update) guarantees that dispatches can never exceed physical on-hand quantity.</a:t>
            </a:r>
          </a:p>
        </p:txBody>
      </p:sp>
      <p:sp>
        <p:nvSpPr>
          <p:cNvPr id="17" name="Rounded Rectangle 16"/>
          <p:cNvSpPr/>
          <p:nvPr/>
        </p:nvSpPr>
        <p:spPr>
          <a:xfrm>
            <a:off x="7772400" y="1371600"/>
            <a:ext cx="3657600" cy="1920240"/>
          </a:xfrm>
          <a:prstGeom prst="roundRect">
            <a:avLst/>
          </a:prstGeom>
          <a:solidFill>
            <a:srgbClr val="FFFF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955280" y="1554480"/>
            <a:ext cx="594360" cy="59436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500">
                <a:solidFill>
                  <a:srgbClr val="FFFFFF"/>
                </a:solidFill>
                <a:latin typeface="Calibri"/>
              </a:defRPr>
            </a:pPr>
            <a:r>
              <a:t>03</a:t>
            </a:r>
          </a:p>
        </p:txBody>
      </p:sp>
      <p:sp>
        <p:nvSpPr>
          <p:cNvPr id="19" name="TextBox 18"/>
          <p:cNvSpPr txBox="1"/>
          <p:nvPr/>
        </p:nvSpPr>
        <p:spPr>
          <a:xfrm>
            <a:off x="8641080" y="1508760"/>
            <a:ext cx="2651760" cy="457200"/>
          </a:xfrm>
          <a:prstGeom prst="rect">
            <a:avLst/>
          </a:prstGeom>
          <a:noFill/>
        </p:spPr>
        <p:txBody>
          <a:bodyPr wrap="square" lIns="0" tIns="0" rIns="0" bIns="0">
            <a:spAutoFit/>
          </a:bodyPr>
          <a:lstStyle/>
          <a:p>
            <a:pPr>
              <a:defRPr b="1" sz="1500">
                <a:solidFill>
                  <a:srgbClr val="0F172A"/>
                </a:solidFill>
              </a:defRPr>
            </a:pPr>
            <a:r>
              <a:t>Immutable Audit Journal</a:t>
            </a:r>
          </a:p>
        </p:txBody>
      </p:sp>
      <p:sp>
        <p:nvSpPr>
          <p:cNvPr id="20" name="TextBox 19"/>
          <p:cNvSpPr txBox="1"/>
          <p:nvPr/>
        </p:nvSpPr>
        <p:spPr>
          <a:xfrm>
            <a:off x="7955280" y="2148840"/>
            <a:ext cx="3291840" cy="1051560"/>
          </a:xfrm>
          <a:prstGeom prst="rect">
            <a:avLst/>
          </a:prstGeom>
          <a:noFill/>
        </p:spPr>
        <p:txBody>
          <a:bodyPr wrap="square" lIns="0" tIns="0" rIns="0" bIns="0">
            <a:spAutoFit/>
          </a:bodyPr>
          <a:lstStyle/>
          <a:p>
            <a:pPr>
              <a:defRPr sz="1300">
                <a:solidFill>
                  <a:srgbClr val="334155"/>
                </a:solidFill>
              </a:defRPr>
            </a:pPr>
            <a:r>
              <a:t>Every single physical movement (Stock IN, OUT, Transfer) automatically logs an unalterable history record tied to the logged-in user, SKU, timestamp, and notes.</a:t>
            </a:r>
          </a:p>
        </p:txBody>
      </p:sp>
      <p:sp>
        <p:nvSpPr>
          <p:cNvPr id="21" name="Rounded Rectangle 20"/>
          <p:cNvSpPr/>
          <p:nvPr/>
        </p:nvSpPr>
        <p:spPr>
          <a:xfrm>
            <a:off x="7772400" y="3474720"/>
            <a:ext cx="3657600" cy="192024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55280" y="3657600"/>
            <a:ext cx="594360" cy="59436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500">
                <a:solidFill>
                  <a:srgbClr val="FFFFFF"/>
                </a:solidFill>
                <a:latin typeface="Calibri"/>
              </a:defRPr>
            </a:pPr>
            <a:r>
              <a:t>04</a:t>
            </a:r>
          </a:p>
        </p:txBody>
      </p:sp>
      <p:sp>
        <p:nvSpPr>
          <p:cNvPr id="23" name="TextBox 22"/>
          <p:cNvSpPr txBox="1"/>
          <p:nvPr/>
        </p:nvSpPr>
        <p:spPr>
          <a:xfrm>
            <a:off x="8641080" y="3611880"/>
            <a:ext cx="2651760" cy="457200"/>
          </a:xfrm>
          <a:prstGeom prst="rect">
            <a:avLst/>
          </a:prstGeom>
          <a:noFill/>
        </p:spPr>
        <p:txBody>
          <a:bodyPr wrap="square" lIns="0" tIns="0" rIns="0" bIns="0">
            <a:spAutoFit/>
          </a:bodyPr>
          <a:lstStyle/>
          <a:p>
            <a:pPr>
              <a:defRPr b="1" sz="1500">
                <a:solidFill>
                  <a:srgbClr val="0F172A"/>
                </a:solidFill>
              </a:defRPr>
            </a:pPr>
            <a:r>
              <a:t>Automated Threshold Alerts &amp; KPIs</a:t>
            </a:r>
          </a:p>
        </p:txBody>
      </p:sp>
      <p:sp>
        <p:nvSpPr>
          <p:cNvPr id="24" name="TextBox 23"/>
          <p:cNvSpPr txBox="1"/>
          <p:nvPr/>
        </p:nvSpPr>
        <p:spPr>
          <a:xfrm>
            <a:off x="7955280" y="4251960"/>
            <a:ext cx="3291840" cy="1051560"/>
          </a:xfrm>
          <a:prstGeom prst="rect">
            <a:avLst/>
          </a:prstGeom>
          <a:noFill/>
        </p:spPr>
        <p:txBody>
          <a:bodyPr wrap="square" lIns="0" tIns="0" rIns="0" bIns="0">
            <a:spAutoFit/>
          </a:bodyPr>
          <a:lstStyle/>
          <a:p>
            <a:pPr>
              <a:defRPr sz="1300">
                <a:solidFill>
                  <a:srgbClr val="334155"/>
                </a:solidFill>
              </a:defRPr>
            </a:pPr>
            <a:r>
              <a:t>The dashboard dynamically flags products falling below minimum safety limits with visual color badges, while calculating total warehouse valuation instantly.</a:t>
            </a:r>
          </a:p>
        </p:txBody>
      </p:sp>
      <p:sp>
        <p:nvSpPr>
          <p:cNvPr id="25" name="Rounded Rectangle 24"/>
          <p:cNvSpPr/>
          <p:nvPr/>
        </p:nvSpPr>
        <p:spPr>
          <a:xfrm>
            <a:off x="731520" y="5532120"/>
            <a:ext cx="10698480" cy="77724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605272"/>
            <a:ext cx="10332720" cy="63093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"Point to the central hub and the 4 satellites. Say: 'SmartInventory acts as the warehouse brain: it tracks stock in real time, strictly blocks overselling, maintains an unalterable audit log, and alerts managers before stockouts occur.'"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TECHNICAL DESIGN • DECOUPLED FULL-STACK ARCHITECTURE</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Three-Tier Architecture &amp; Technology Stack</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ounded Rectangle 7"/>
          <p:cNvSpPr/>
          <p:nvPr/>
        </p:nvSpPr>
        <p:spPr>
          <a:xfrm>
            <a:off x="731520" y="1371600"/>
            <a:ext cx="4206240" cy="39319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_1_image1.png"/>
          <p:cNvPicPr>
            <a:picLocks noChangeAspect="1"/>
          </p:cNvPicPr>
          <p:nvPr/>
        </p:nvPicPr>
        <p:blipFill>
          <a:blip r:embed="rId2"/>
          <a:stretch>
            <a:fillRect/>
          </a:stretch>
        </p:blipFill>
        <p:spPr>
          <a:xfrm>
            <a:off x="868680" y="1508760"/>
            <a:ext cx="3931920" cy="2343265"/>
          </a:xfrm>
          <a:prstGeom prst="rect">
            <a:avLst/>
          </a:prstGeom>
        </p:spPr>
      </p:pic>
      <p:sp>
        <p:nvSpPr>
          <p:cNvPr id="10" name="TextBox 9"/>
          <p:cNvSpPr txBox="1"/>
          <p:nvPr/>
        </p:nvSpPr>
        <p:spPr>
          <a:xfrm>
            <a:off x="914400" y="4389120"/>
            <a:ext cx="3840480" cy="822960"/>
          </a:xfrm>
          <a:prstGeom prst="rect">
            <a:avLst/>
          </a:prstGeom>
          <a:noFill/>
        </p:spPr>
        <p:txBody>
          <a:bodyPr wrap="square">
            <a:spAutoFit/>
          </a:bodyPr>
          <a:lstStyle/>
          <a:p>
            <a:pPr>
              <a:defRPr b="1" sz="1300">
                <a:solidFill>
                  <a:srgbClr val="1D4ED8"/>
                </a:solidFill>
              </a:defRPr>
            </a:pPr>
            <a:r>
              <a:t>Decoupled 3-Tier Flow:</a:t>
            </a:r>
          </a:p>
          <a:p>
            <a:pPr>
              <a:defRPr sz="1200">
                <a:solidFill>
                  <a:srgbClr val="64748B"/>
                </a:solidFill>
              </a:defRPr>
            </a:pPr>
            <a:r>
              <a:t>Client Browser (React 19) ↔ Secure JWT REST API (Express) ↔ Cloud Cluster (MongoDB Atlas)</a:t>
            </a:r>
          </a:p>
        </p:txBody>
      </p:sp>
      <p:sp>
        <p:nvSpPr>
          <p:cNvPr id="11" name="Rounded Rectangle 10"/>
          <p:cNvSpPr/>
          <p:nvPr/>
        </p:nvSpPr>
        <p:spPr>
          <a:xfrm>
            <a:off x="5212080" y="1371600"/>
            <a:ext cx="6217920" cy="1188720"/>
          </a:xfrm>
          <a:prstGeom prst="roundRect">
            <a:avLst/>
          </a:prstGeom>
          <a:solidFill>
            <a:srgbClr val="FFFFFF"/>
          </a:solidFill>
          <a:ln w="19050">
            <a:solidFill>
              <a:srgbClr val="EA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394960" y="1600200"/>
            <a:ext cx="685800" cy="6858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01</a:t>
            </a:r>
          </a:p>
        </p:txBody>
      </p:sp>
      <p:sp>
        <p:nvSpPr>
          <p:cNvPr id="13" name="TextBox 12"/>
          <p:cNvSpPr txBox="1"/>
          <p:nvPr/>
        </p:nvSpPr>
        <p:spPr>
          <a:xfrm>
            <a:off x="6309360" y="1481328"/>
            <a:ext cx="4937760" cy="960120"/>
          </a:xfrm>
          <a:prstGeom prst="rect">
            <a:avLst/>
          </a:prstGeom>
          <a:noFill/>
        </p:spPr>
        <p:txBody>
          <a:bodyPr wrap="square" lIns="0" tIns="0" rIns="0" bIns="0">
            <a:spAutoFit/>
          </a:bodyPr>
          <a:lstStyle/>
          <a:p>
            <a:pPr>
              <a:defRPr b="1" sz="1550">
                <a:solidFill>
                  <a:srgbClr val="0F172A"/>
                </a:solidFill>
              </a:defRPr>
            </a:pPr>
            <a:r>
              <a:t>Frontend Presentation Tier (React 19 + Vite)</a:t>
            </a:r>
          </a:p>
          <a:p>
            <a:pPr>
              <a:spcBef>
                <a:spcPts val="300"/>
              </a:spcBef>
              <a:defRPr sz="1300">
                <a:solidFill>
                  <a:srgbClr val="334155"/>
                </a:solidFill>
              </a:defRPr>
            </a:pPr>
            <a:r>
              <a:t>Built with React 19, Tailwind CSS, and Lucide icons. Operates as a fast Single Page Application (SPA). Provides instant client-side input validation and dynamic UI re-rendering without page refreshes.</a:t>
            </a:r>
          </a:p>
        </p:txBody>
      </p:sp>
      <p:sp>
        <p:nvSpPr>
          <p:cNvPr id="14" name="Rounded Rectangle 13"/>
          <p:cNvSpPr/>
          <p:nvPr/>
        </p:nvSpPr>
        <p:spPr>
          <a:xfrm>
            <a:off x="5212080" y="2697480"/>
            <a:ext cx="6217920" cy="1188720"/>
          </a:xfrm>
          <a:prstGeom prst="roundRect">
            <a:avLst/>
          </a:prstGeom>
          <a:solidFill>
            <a:srgbClr val="FFFFFF"/>
          </a:solidFill>
          <a:ln w="19050">
            <a:solidFill>
              <a:srgbClr val="EA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94960" y="2926080"/>
            <a:ext cx="685800" cy="6858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02</a:t>
            </a:r>
          </a:p>
        </p:txBody>
      </p:sp>
      <p:sp>
        <p:nvSpPr>
          <p:cNvPr id="16" name="TextBox 15"/>
          <p:cNvSpPr txBox="1"/>
          <p:nvPr/>
        </p:nvSpPr>
        <p:spPr>
          <a:xfrm>
            <a:off x="6309360" y="2807208"/>
            <a:ext cx="4937760" cy="960120"/>
          </a:xfrm>
          <a:prstGeom prst="rect">
            <a:avLst/>
          </a:prstGeom>
          <a:noFill/>
        </p:spPr>
        <p:txBody>
          <a:bodyPr wrap="square" lIns="0" tIns="0" rIns="0" bIns="0">
            <a:spAutoFit/>
          </a:bodyPr>
          <a:lstStyle/>
          <a:p>
            <a:pPr>
              <a:defRPr b="1" sz="1550">
                <a:solidFill>
                  <a:srgbClr val="0F172A"/>
                </a:solidFill>
              </a:defRPr>
            </a:pPr>
            <a:r>
              <a:t>Application &amp; API Tier (Node.js + Express.js)</a:t>
            </a:r>
          </a:p>
          <a:p>
            <a:pPr>
              <a:spcBef>
                <a:spcPts val="300"/>
              </a:spcBef>
              <a:defRPr sz="1300">
                <a:solidFill>
                  <a:srgbClr val="334155"/>
                </a:solidFill>
              </a:defRPr>
            </a:pPr>
            <a:r>
              <a:t>Handles stateless RESTful endpoints, bcrypt password encryption (10 rounds), and JSON Web Token (JWT) verification. Implements strict Role-Based Access Control (Admin vs. Staff) and business logic.</a:t>
            </a:r>
          </a:p>
        </p:txBody>
      </p:sp>
      <p:sp>
        <p:nvSpPr>
          <p:cNvPr id="17" name="Rounded Rectangle 16"/>
          <p:cNvSpPr/>
          <p:nvPr/>
        </p:nvSpPr>
        <p:spPr>
          <a:xfrm>
            <a:off x="5212080" y="4023360"/>
            <a:ext cx="6217920" cy="1188720"/>
          </a:xfrm>
          <a:prstGeom prst="roundRect">
            <a:avLst/>
          </a:prstGeom>
          <a:solidFill>
            <a:srgbClr val="FFFFFF"/>
          </a:solidFill>
          <a:ln w="19050">
            <a:solidFill>
              <a:srgbClr val="EA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94960" y="4251960"/>
            <a:ext cx="685800" cy="6858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03</a:t>
            </a:r>
          </a:p>
        </p:txBody>
      </p:sp>
      <p:sp>
        <p:nvSpPr>
          <p:cNvPr id="19" name="TextBox 18"/>
          <p:cNvSpPr txBox="1"/>
          <p:nvPr/>
        </p:nvSpPr>
        <p:spPr>
          <a:xfrm>
            <a:off x="6309360" y="4133088"/>
            <a:ext cx="4937760" cy="960120"/>
          </a:xfrm>
          <a:prstGeom prst="rect">
            <a:avLst/>
          </a:prstGeom>
          <a:noFill/>
        </p:spPr>
        <p:txBody>
          <a:bodyPr wrap="square" lIns="0" tIns="0" rIns="0" bIns="0">
            <a:spAutoFit/>
          </a:bodyPr>
          <a:lstStyle/>
          <a:p>
            <a:pPr>
              <a:defRPr b="1" sz="1550">
                <a:solidFill>
                  <a:srgbClr val="0F172A"/>
                </a:solidFill>
              </a:defRPr>
            </a:pPr>
            <a:r>
              <a:t>Cloud Database Tier (MongoDB Atlas)</a:t>
            </a:r>
          </a:p>
          <a:p>
            <a:pPr>
              <a:spcBef>
                <a:spcPts val="300"/>
              </a:spcBef>
              <a:defRPr sz="1300">
                <a:solidFill>
                  <a:srgbClr val="334155"/>
                </a:solidFill>
              </a:defRPr>
            </a:pPr>
            <a:r>
              <a:t>Hosted on a highly-available cloud replica set with automatic failover. Stores schema collections in native JSON/BSON format, utilizing compound indexes for sub-50ms query execution under heavy load.</a:t>
            </a:r>
          </a:p>
        </p:txBody>
      </p:sp>
      <p:sp>
        <p:nvSpPr>
          <p:cNvPr id="20" name="Rounded Rectangle 19"/>
          <p:cNvSpPr/>
          <p:nvPr/>
        </p:nvSpPr>
        <p:spPr>
          <a:xfrm>
            <a:off x="731520" y="5486400"/>
            <a:ext cx="10698480" cy="8229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59552"/>
            <a:ext cx="10332720" cy="67665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"Explain that we chose the MERN stack because JavaScript runs seamlessly from browser to database. Point to the 3 tiers: React gives staff a snappy interface, Express enforces authentication and business rules, and MongoDB Atlas manages data safely in the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DATABASE ENGINEERING • DOCUMENT MODEL &amp; REFERENCING STRATEGY</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MongoDB Schema Architecture &amp; Design Rationale</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ounded Rectangle 7"/>
          <p:cNvSpPr/>
          <p:nvPr/>
        </p:nvSpPr>
        <p:spPr>
          <a:xfrm>
            <a:off x="731520" y="1371600"/>
            <a:ext cx="10698480" cy="105156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44752"/>
            <a:ext cx="10332720" cy="896112"/>
          </a:xfrm>
          <a:prstGeom prst="rect">
            <a:avLst/>
          </a:prstGeom>
          <a:noFill/>
        </p:spPr>
        <p:txBody>
          <a:bodyPr wrap="square" lIns="0" tIns="0" rIns="0" bIns="0">
            <a:spAutoFit/>
          </a:bodyPr>
          <a:lstStyle/>
          <a:p>
            <a:pPr>
              <a:defRPr b="1" sz="1500">
                <a:solidFill>
                  <a:srgbClr val="B45309"/>
                </a:solidFill>
              </a:defRPr>
            </a:pPr>
            <a:r>
              <a:t>Key Architectural Decision: Referencing vs. Embedding</a:t>
            </a:r>
          </a:p>
          <a:p>
            <a:pPr>
              <a:spcBef>
                <a:spcPts val="300"/>
              </a:spcBef>
              <a:defRPr sz="1300">
                <a:solidFill>
                  <a:srgbClr val="0F172A"/>
                </a:solidFill>
              </a:defRPr>
            </a:pPr>
            <a:r>
              <a:t>In MongoDB, embedding transaction logs inside a product document would cause the document to breach the 16 MB limit within months in an active warehouse. Therefore, we used normalized referencing with ObjectId links for StockMovements. This guarantees infinite historical audit logging while keeping product queries ultra-fast.</a:t>
            </a:r>
          </a:p>
        </p:txBody>
      </p:sp>
      <p:sp>
        <p:nvSpPr>
          <p:cNvPr id="10" name="Rounded Rectangle 9"/>
          <p:cNvSpPr/>
          <p:nvPr/>
        </p:nvSpPr>
        <p:spPr>
          <a:xfrm>
            <a:off x="731520" y="2560320"/>
            <a:ext cx="2542032" cy="2788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97480"/>
            <a:ext cx="2267712" cy="365760"/>
          </a:xfrm>
          <a:prstGeom prst="rect">
            <a:avLst/>
          </a:prstGeom>
          <a:noFill/>
        </p:spPr>
        <p:txBody>
          <a:bodyPr wrap="none">
            <a:spAutoFit/>
          </a:bodyPr>
          <a:lstStyle/>
          <a:p>
            <a:pPr>
              <a:defRPr b="1" sz="1600">
                <a:solidFill>
                  <a:srgbClr val="2563EB"/>
                </a:solidFill>
              </a:defRPr>
            </a:pPr>
            <a:r>
              <a:t>Users Collection</a:t>
            </a:r>
          </a:p>
        </p:txBody>
      </p:sp>
      <p:sp>
        <p:nvSpPr>
          <p:cNvPr id="12" name="TextBox 11"/>
          <p:cNvSpPr txBox="1"/>
          <p:nvPr/>
        </p:nvSpPr>
        <p:spPr>
          <a:xfrm>
            <a:off x="868680" y="3154680"/>
            <a:ext cx="2267712" cy="2103120"/>
          </a:xfrm>
          <a:prstGeom prst="rect">
            <a:avLst/>
          </a:prstGeom>
          <a:noFill/>
        </p:spPr>
        <p:txBody>
          <a:bodyPr wrap="square" lIns="0" tIns="0" rIns="0" bIns="0">
            <a:spAutoFit/>
          </a:bodyPr>
          <a:lstStyle/>
          <a:p>
            <a:pPr>
              <a:defRPr sz="1300">
                <a:solidFill>
                  <a:srgbClr val="334155"/>
                </a:solidFill>
              </a:defRPr>
            </a:pPr>
            <a:r>
              <a:t>• Stores username, email, hashed password, and role ('admin' vs 'staff').</a:t>
            </a:r>
            <a:br/>
            <a:r>
              <a:t>• Uses bcrypt with 10 salt rounds.</a:t>
            </a:r>
            <a:br/>
            <a:r>
              <a:t>• Enforces role-based permissions so only admins manage warehouses/suppliers.</a:t>
            </a:r>
          </a:p>
        </p:txBody>
      </p:sp>
      <p:sp>
        <p:nvSpPr>
          <p:cNvPr id="13" name="Rounded Rectangle 12"/>
          <p:cNvSpPr/>
          <p:nvPr/>
        </p:nvSpPr>
        <p:spPr>
          <a:xfrm>
            <a:off x="3429000" y="2560320"/>
            <a:ext cx="2542032" cy="27889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2697480"/>
            <a:ext cx="2267712" cy="365760"/>
          </a:xfrm>
          <a:prstGeom prst="rect">
            <a:avLst/>
          </a:prstGeom>
          <a:noFill/>
        </p:spPr>
        <p:txBody>
          <a:bodyPr wrap="none">
            <a:spAutoFit/>
          </a:bodyPr>
          <a:lstStyle/>
          <a:p>
            <a:pPr>
              <a:defRPr b="1" sz="1600">
                <a:solidFill>
                  <a:srgbClr val="10B981"/>
                </a:solidFill>
              </a:defRPr>
            </a:pPr>
            <a:r>
              <a:t>Products Collection</a:t>
            </a:r>
          </a:p>
        </p:txBody>
      </p:sp>
      <p:sp>
        <p:nvSpPr>
          <p:cNvPr id="15" name="TextBox 14"/>
          <p:cNvSpPr txBox="1"/>
          <p:nvPr/>
        </p:nvSpPr>
        <p:spPr>
          <a:xfrm>
            <a:off x="3566160" y="3154680"/>
            <a:ext cx="2267712" cy="2103120"/>
          </a:xfrm>
          <a:prstGeom prst="rect">
            <a:avLst/>
          </a:prstGeom>
          <a:noFill/>
        </p:spPr>
        <p:txBody>
          <a:bodyPr wrap="square" lIns="0" tIns="0" rIns="0" bIns="0">
            <a:spAutoFit/>
          </a:bodyPr>
          <a:lstStyle/>
          <a:p>
            <a:pPr>
              <a:defRPr sz="1300">
                <a:solidFill>
                  <a:srgbClr val="334155"/>
                </a:solidFill>
              </a:defRPr>
            </a:pPr>
            <a:r>
              <a:t>• Stores SKU, name, category, unit price, quantity, and minStockThreshold.</a:t>
            </a:r>
            <a:br/>
            <a:r>
              <a:t>• Indexed on SKU (unique) for instant lookup.</a:t>
            </a:r>
            <a:br/>
            <a:r>
              <a:t>• Supports soft-delete ('isActive') so past movement histories are never corrupted.</a:t>
            </a:r>
          </a:p>
        </p:txBody>
      </p:sp>
      <p:sp>
        <p:nvSpPr>
          <p:cNvPr id="16" name="Rounded Rectangle 15"/>
          <p:cNvSpPr/>
          <p:nvPr/>
        </p:nvSpPr>
        <p:spPr>
          <a:xfrm>
            <a:off x="6126480" y="2560320"/>
            <a:ext cx="2542032" cy="2788920"/>
          </a:xfrm>
          <a:prstGeom prst="roundRect">
            <a:avLst/>
          </a:prstGeom>
          <a:solidFill>
            <a:srgbClr val="FFFF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2697480"/>
            <a:ext cx="2267712" cy="365760"/>
          </a:xfrm>
          <a:prstGeom prst="rect">
            <a:avLst/>
          </a:prstGeom>
          <a:noFill/>
        </p:spPr>
        <p:txBody>
          <a:bodyPr wrap="none">
            <a:spAutoFit/>
          </a:bodyPr>
          <a:lstStyle/>
          <a:p>
            <a:pPr>
              <a:defRPr b="1" sz="1600">
                <a:solidFill>
                  <a:srgbClr val="8B5CF6"/>
                </a:solidFill>
              </a:defRPr>
            </a:pPr>
            <a:r>
              <a:t>Stock Movements</a:t>
            </a:r>
          </a:p>
        </p:txBody>
      </p:sp>
      <p:sp>
        <p:nvSpPr>
          <p:cNvPr id="18" name="TextBox 17"/>
          <p:cNvSpPr txBox="1"/>
          <p:nvPr/>
        </p:nvSpPr>
        <p:spPr>
          <a:xfrm>
            <a:off x="6263640" y="3154680"/>
            <a:ext cx="2267712" cy="2103120"/>
          </a:xfrm>
          <a:prstGeom prst="rect">
            <a:avLst/>
          </a:prstGeom>
          <a:noFill/>
        </p:spPr>
        <p:txBody>
          <a:bodyPr wrap="square" lIns="0" tIns="0" rIns="0" bIns="0">
            <a:spAutoFit/>
          </a:bodyPr>
          <a:lstStyle/>
          <a:p>
            <a:pPr>
              <a:defRPr sz="1300">
                <a:solidFill>
                  <a:srgbClr val="334155"/>
                </a:solidFill>
              </a:defRPr>
            </a:pPr>
            <a:r>
              <a:t>• Immutable audit log for every transaction.</a:t>
            </a:r>
            <a:br/>
            <a:r>
              <a:t>• Records type ('IN', 'OUT', 'TRANSFER'), quantity, previous vs new stock, reference, and date.</a:t>
            </a:r>
            <a:br/>
            <a:r>
              <a:t>• Links to Product and User via ObjectId references.</a:t>
            </a:r>
          </a:p>
        </p:txBody>
      </p:sp>
      <p:sp>
        <p:nvSpPr>
          <p:cNvPr id="19" name="Rounded Rectangle 18"/>
          <p:cNvSpPr/>
          <p:nvPr/>
        </p:nvSpPr>
        <p:spPr>
          <a:xfrm>
            <a:off x="8823960" y="2560320"/>
            <a:ext cx="2542032" cy="278892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2697480"/>
            <a:ext cx="2267712" cy="365760"/>
          </a:xfrm>
          <a:prstGeom prst="rect">
            <a:avLst/>
          </a:prstGeom>
          <a:noFill/>
        </p:spPr>
        <p:txBody>
          <a:bodyPr wrap="none">
            <a:spAutoFit/>
          </a:bodyPr>
          <a:lstStyle/>
          <a:p>
            <a:pPr>
              <a:defRPr b="1" sz="1600">
                <a:solidFill>
                  <a:srgbClr val="1D4ED8"/>
                </a:solidFill>
              </a:defRPr>
            </a:pPr>
            <a:r>
              <a:t>Warehouses &amp; Suppliers</a:t>
            </a:r>
          </a:p>
        </p:txBody>
      </p:sp>
      <p:sp>
        <p:nvSpPr>
          <p:cNvPr id="21" name="TextBox 20"/>
          <p:cNvSpPr txBox="1"/>
          <p:nvPr/>
        </p:nvSpPr>
        <p:spPr>
          <a:xfrm>
            <a:off x="8961120" y="3154680"/>
            <a:ext cx="2267712" cy="2103120"/>
          </a:xfrm>
          <a:prstGeom prst="rect">
            <a:avLst/>
          </a:prstGeom>
          <a:noFill/>
        </p:spPr>
        <p:txBody>
          <a:bodyPr wrap="square" lIns="0" tIns="0" rIns="0" bIns="0">
            <a:spAutoFit/>
          </a:bodyPr>
          <a:lstStyle/>
          <a:p>
            <a:pPr>
              <a:defRPr sz="1300">
                <a:solidFill>
                  <a:srgbClr val="334155"/>
                </a:solidFill>
              </a:defRPr>
            </a:pPr>
            <a:r>
              <a:t>• Warehouses: Multi-location tracking with physical address, capacity, and supervisor.</a:t>
            </a:r>
            <a:br/>
            <a:r>
              <a:t>• Suppliers: Contact name, lead time, and payment terms.</a:t>
            </a:r>
            <a:br/>
            <a:r>
              <a:t>• Keeps supplier-product supply chains organized.</a:t>
            </a:r>
          </a:p>
        </p:txBody>
      </p:sp>
      <p:sp>
        <p:nvSpPr>
          <p:cNvPr id="22" name="Rounded Rectangle 21"/>
          <p:cNvSpPr/>
          <p:nvPr/>
        </p:nvSpPr>
        <p:spPr>
          <a:xfrm>
            <a:off x="731520" y="5532120"/>
            <a:ext cx="10698480" cy="77724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05272"/>
            <a:ext cx="10332720" cy="63093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"Highlight our Referencing design decision. Evaluators love database schema justification! Explain that referencing prevents hitting MongoDB's 16 MB document size ceiling and allows unlimited historical audit logging without slowing down daily queries."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OPERATIONAL WORKFLOW • STEP-BY-STEP LIFECYCLE OF A STOCK MOVEMENT</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Core Working Principle: 5-Step Transaction Lifecycle</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ectangle 7"/>
          <p:cNvSpPr/>
          <p:nvPr/>
        </p:nvSpPr>
        <p:spPr>
          <a:xfrm>
            <a:off x="1371600" y="2560320"/>
            <a:ext cx="9418320" cy="7315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89888" y="2194560"/>
            <a:ext cx="731520" cy="7315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01</a:t>
            </a:r>
          </a:p>
        </p:txBody>
      </p:sp>
      <p:sp>
        <p:nvSpPr>
          <p:cNvPr id="10" name="TextBox 9"/>
          <p:cNvSpPr txBox="1"/>
          <p:nvPr/>
        </p:nvSpPr>
        <p:spPr>
          <a:xfrm>
            <a:off x="731520" y="1463040"/>
            <a:ext cx="2057400" cy="640080"/>
          </a:xfrm>
          <a:prstGeom prst="rect">
            <a:avLst/>
          </a:prstGeom>
          <a:noFill/>
        </p:spPr>
        <p:txBody>
          <a:bodyPr wrap="square" lIns="0" tIns="0" rIns="0" bIns="0">
            <a:spAutoFit/>
          </a:bodyPr>
          <a:lstStyle/>
          <a:p>
            <a:pPr algn="ctr">
              <a:defRPr b="1" sz="1550">
                <a:solidFill>
                  <a:srgbClr val="2563EB"/>
                </a:solidFill>
              </a:defRPr>
            </a:pPr>
            <a:r>
              <a:t>Step 1</a:t>
            </a:r>
            <a:br/>
            <a:r>
              <a:t>User Action</a:t>
            </a:r>
          </a:p>
        </p:txBody>
      </p:sp>
      <p:sp>
        <p:nvSpPr>
          <p:cNvPr id="11" name="Rounded Rectangle 10"/>
          <p:cNvSpPr/>
          <p:nvPr/>
        </p:nvSpPr>
        <p:spPr>
          <a:xfrm>
            <a:off x="731520" y="3154680"/>
            <a:ext cx="2057400" cy="2148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291840"/>
            <a:ext cx="1837944" cy="1920240"/>
          </a:xfrm>
          <a:prstGeom prst="rect">
            <a:avLst/>
          </a:prstGeom>
          <a:noFill/>
        </p:spPr>
        <p:txBody>
          <a:bodyPr wrap="square" lIns="0" tIns="0" rIns="0" bIns="0">
            <a:spAutoFit/>
          </a:bodyPr>
          <a:lstStyle/>
          <a:p>
            <a:pPr>
              <a:defRPr sz="1300">
                <a:solidFill>
                  <a:srgbClr val="334155"/>
                </a:solidFill>
              </a:defRPr>
            </a:pPr>
            <a:r>
              <a:t>Staff initiates a Stock IN or OUT form, selecting the target product, warehouse, quantity, and reference invoice note.</a:t>
            </a:r>
          </a:p>
        </p:txBody>
      </p:sp>
      <p:sp>
        <p:nvSpPr>
          <p:cNvPr id="13" name="Oval 12"/>
          <p:cNvSpPr/>
          <p:nvPr/>
        </p:nvSpPr>
        <p:spPr>
          <a:xfrm>
            <a:off x="3566159" y="2194560"/>
            <a:ext cx="731520" cy="7315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02</a:t>
            </a:r>
          </a:p>
        </p:txBody>
      </p:sp>
      <p:sp>
        <p:nvSpPr>
          <p:cNvPr id="14" name="TextBox 13"/>
          <p:cNvSpPr txBox="1"/>
          <p:nvPr/>
        </p:nvSpPr>
        <p:spPr>
          <a:xfrm>
            <a:off x="2907791" y="1463040"/>
            <a:ext cx="2057400" cy="640080"/>
          </a:xfrm>
          <a:prstGeom prst="rect">
            <a:avLst/>
          </a:prstGeom>
          <a:noFill/>
        </p:spPr>
        <p:txBody>
          <a:bodyPr wrap="square" lIns="0" tIns="0" rIns="0" bIns="0">
            <a:spAutoFit/>
          </a:bodyPr>
          <a:lstStyle/>
          <a:p>
            <a:pPr algn="ctr">
              <a:defRPr b="1" sz="1550">
                <a:solidFill>
                  <a:srgbClr val="10B981"/>
                </a:solidFill>
              </a:defRPr>
            </a:pPr>
            <a:r>
              <a:t>Step 2</a:t>
            </a:r>
            <a:br/>
            <a:r>
              <a:t>Client Validation</a:t>
            </a:r>
          </a:p>
        </p:txBody>
      </p:sp>
      <p:sp>
        <p:nvSpPr>
          <p:cNvPr id="15" name="Rounded Rectangle 14"/>
          <p:cNvSpPr/>
          <p:nvPr/>
        </p:nvSpPr>
        <p:spPr>
          <a:xfrm>
            <a:off x="2907791" y="3154680"/>
            <a:ext cx="2057400" cy="214884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19" y="3291840"/>
            <a:ext cx="1837944" cy="1920240"/>
          </a:xfrm>
          <a:prstGeom prst="rect">
            <a:avLst/>
          </a:prstGeom>
          <a:noFill/>
        </p:spPr>
        <p:txBody>
          <a:bodyPr wrap="square" lIns="0" tIns="0" rIns="0" bIns="0">
            <a:spAutoFit/>
          </a:bodyPr>
          <a:lstStyle/>
          <a:p>
            <a:pPr>
              <a:defRPr sz="1300">
                <a:solidFill>
                  <a:srgbClr val="334155"/>
                </a:solidFill>
              </a:defRPr>
            </a:pPr>
            <a:r>
              <a:t>React verifies positive integer inputs and checks requested dispatch quantity against current physical balance before submitting.</a:t>
            </a:r>
          </a:p>
        </p:txBody>
      </p:sp>
      <p:sp>
        <p:nvSpPr>
          <p:cNvPr id="17" name="Oval 16"/>
          <p:cNvSpPr/>
          <p:nvPr/>
        </p:nvSpPr>
        <p:spPr>
          <a:xfrm>
            <a:off x="5742432" y="2194560"/>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03</a:t>
            </a:r>
          </a:p>
        </p:txBody>
      </p:sp>
      <p:sp>
        <p:nvSpPr>
          <p:cNvPr id="18" name="TextBox 17"/>
          <p:cNvSpPr txBox="1"/>
          <p:nvPr/>
        </p:nvSpPr>
        <p:spPr>
          <a:xfrm>
            <a:off x="5084064" y="1463040"/>
            <a:ext cx="2057400" cy="640080"/>
          </a:xfrm>
          <a:prstGeom prst="rect">
            <a:avLst/>
          </a:prstGeom>
          <a:noFill/>
        </p:spPr>
        <p:txBody>
          <a:bodyPr wrap="square" lIns="0" tIns="0" rIns="0" bIns="0">
            <a:spAutoFit/>
          </a:bodyPr>
          <a:lstStyle/>
          <a:p>
            <a:pPr algn="ctr">
              <a:defRPr b="1" sz="1550">
                <a:solidFill>
                  <a:srgbClr val="F59E0B"/>
                </a:solidFill>
              </a:defRPr>
            </a:pPr>
            <a:r>
              <a:t>Step 3</a:t>
            </a:r>
            <a:br/>
            <a:r>
              <a:t>API Authentication</a:t>
            </a:r>
          </a:p>
        </p:txBody>
      </p:sp>
      <p:sp>
        <p:nvSpPr>
          <p:cNvPr id="19" name="Rounded Rectangle 18"/>
          <p:cNvSpPr/>
          <p:nvPr/>
        </p:nvSpPr>
        <p:spPr>
          <a:xfrm>
            <a:off x="5084064" y="3154680"/>
            <a:ext cx="2057400" cy="214884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93792" y="3291840"/>
            <a:ext cx="1837944" cy="1920240"/>
          </a:xfrm>
          <a:prstGeom prst="rect">
            <a:avLst/>
          </a:prstGeom>
          <a:noFill/>
        </p:spPr>
        <p:txBody>
          <a:bodyPr wrap="square" lIns="0" tIns="0" rIns="0" bIns="0">
            <a:spAutoFit/>
          </a:bodyPr>
          <a:lstStyle/>
          <a:p>
            <a:pPr>
              <a:defRPr sz="1300">
                <a:solidFill>
                  <a:srgbClr val="334155"/>
                </a:solidFill>
              </a:defRPr>
            </a:pPr>
            <a:r>
              <a:t>Express verifies the user's JWT token, validates role permissions, and starts an atomic controller transaction.</a:t>
            </a:r>
          </a:p>
        </p:txBody>
      </p:sp>
      <p:sp>
        <p:nvSpPr>
          <p:cNvPr id="21" name="Oval 20"/>
          <p:cNvSpPr/>
          <p:nvPr/>
        </p:nvSpPr>
        <p:spPr>
          <a:xfrm>
            <a:off x="7918704" y="2194560"/>
            <a:ext cx="731520" cy="7315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04</a:t>
            </a:r>
          </a:p>
        </p:txBody>
      </p:sp>
      <p:sp>
        <p:nvSpPr>
          <p:cNvPr id="22" name="TextBox 21"/>
          <p:cNvSpPr txBox="1"/>
          <p:nvPr/>
        </p:nvSpPr>
        <p:spPr>
          <a:xfrm>
            <a:off x="7260336" y="1463040"/>
            <a:ext cx="2057400" cy="640080"/>
          </a:xfrm>
          <a:prstGeom prst="rect">
            <a:avLst/>
          </a:prstGeom>
          <a:noFill/>
        </p:spPr>
        <p:txBody>
          <a:bodyPr wrap="square" lIns="0" tIns="0" rIns="0" bIns="0">
            <a:spAutoFit/>
          </a:bodyPr>
          <a:lstStyle/>
          <a:p>
            <a:pPr algn="ctr">
              <a:defRPr b="1" sz="1550">
                <a:solidFill>
                  <a:srgbClr val="8B5CF6"/>
                </a:solidFill>
              </a:defRPr>
            </a:pPr>
            <a:r>
              <a:t>Step 4</a:t>
            </a:r>
            <a:br/>
            <a:r>
              <a:t>Atomic Database Update</a:t>
            </a:r>
          </a:p>
        </p:txBody>
      </p:sp>
      <p:sp>
        <p:nvSpPr>
          <p:cNvPr id="23" name="Rounded Rectangle 22"/>
          <p:cNvSpPr/>
          <p:nvPr/>
        </p:nvSpPr>
        <p:spPr>
          <a:xfrm>
            <a:off x="7260336" y="3154680"/>
            <a:ext cx="2057400" cy="214884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70064" y="3291840"/>
            <a:ext cx="1837944" cy="1920240"/>
          </a:xfrm>
          <a:prstGeom prst="rect">
            <a:avLst/>
          </a:prstGeom>
          <a:noFill/>
        </p:spPr>
        <p:txBody>
          <a:bodyPr wrap="square" lIns="0" tIns="0" rIns="0" bIns="0">
            <a:spAutoFit/>
          </a:bodyPr>
          <a:lstStyle/>
          <a:p>
            <a:pPr>
              <a:defRPr sz="1300">
                <a:solidFill>
                  <a:srgbClr val="334155"/>
                </a:solidFill>
              </a:defRPr>
            </a:pPr>
            <a:r>
              <a:t>MongoDB executes a conditional update ($inc) ensuring stock cannot drop below zero. If condition fails, transaction aborts.</a:t>
            </a:r>
          </a:p>
        </p:txBody>
      </p:sp>
      <p:sp>
        <p:nvSpPr>
          <p:cNvPr id="25" name="Oval 24"/>
          <p:cNvSpPr/>
          <p:nvPr/>
        </p:nvSpPr>
        <p:spPr>
          <a:xfrm>
            <a:off x="10094976" y="2194560"/>
            <a:ext cx="731520" cy="73152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05</a:t>
            </a:r>
          </a:p>
        </p:txBody>
      </p:sp>
      <p:sp>
        <p:nvSpPr>
          <p:cNvPr id="26" name="TextBox 25"/>
          <p:cNvSpPr txBox="1"/>
          <p:nvPr/>
        </p:nvSpPr>
        <p:spPr>
          <a:xfrm>
            <a:off x="9436608" y="1463040"/>
            <a:ext cx="2057400" cy="640080"/>
          </a:xfrm>
          <a:prstGeom prst="rect">
            <a:avLst/>
          </a:prstGeom>
          <a:noFill/>
        </p:spPr>
        <p:txBody>
          <a:bodyPr wrap="square" lIns="0" tIns="0" rIns="0" bIns="0">
            <a:spAutoFit/>
          </a:bodyPr>
          <a:lstStyle/>
          <a:p>
            <a:pPr algn="ctr">
              <a:defRPr b="1" sz="1550">
                <a:solidFill>
                  <a:srgbClr val="1D4ED8"/>
                </a:solidFill>
              </a:defRPr>
            </a:pPr>
            <a:r>
              <a:t>Step 5</a:t>
            </a:r>
            <a:br/>
            <a:r>
              <a:t>Audit Log &amp; Sync</a:t>
            </a:r>
          </a:p>
        </p:txBody>
      </p:sp>
      <p:sp>
        <p:nvSpPr>
          <p:cNvPr id="27" name="Rounded Rectangle 26"/>
          <p:cNvSpPr/>
          <p:nvPr/>
        </p:nvSpPr>
        <p:spPr>
          <a:xfrm>
            <a:off x="9436608" y="3154680"/>
            <a:ext cx="2057400" cy="2148840"/>
          </a:xfrm>
          <a:prstGeom prst="roundRect">
            <a:avLst/>
          </a:prstGeom>
          <a:solidFill>
            <a:srgbClr val="FFFFFF"/>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6336" y="3291840"/>
            <a:ext cx="1837944" cy="1920240"/>
          </a:xfrm>
          <a:prstGeom prst="rect">
            <a:avLst/>
          </a:prstGeom>
          <a:noFill/>
        </p:spPr>
        <p:txBody>
          <a:bodyPr wrap="square" lIns="0" tIns="0" rIns="0" bIns="0">
            <a:spAutoFit/>
          </a:bodyPr>
          <a:lstStyle/>
          <a:p>
            <a:pPr>
              <a:defRPr sz="1300">
                <a:solidFill>
                  <a:srgbClr val="334155"/>
                </a:solidFill>
              </a:defRPr>
            </a:pPr>
            <a:r>
              <a:t>An unalterable StockMovement record is written, and dashboard KPI cards update in real time without refreshing.</a:t>
            </a:r>
          </a:p>
        </p:txBody>
      </p:sp>
      <p:sp>
        <p:nvSpPr>
          <p:cNvPr id="29" name="Rounded Rectangle 28"/>
          <p:cNvSpPr/>
          <p:nvPr/>
        </p:nvSpPr>
        <p:spPr>
          <a:xfrm>
            <a:off x="731520" y="5532120"/>
            <a:ext cx="10698480" cy="77724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605272"/>
            <a:ext cx="10332720" cy="63093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"This is your best demonstration slide! Walk the evaluators step-by-step from Step 1 to Step 5. Point out that a stock change is never just an edit—it is validated twice, updated atomically in MongoDB, and logged permanently in the movement journal."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IMPLEMENTATION SHOWCASE • OPERATIONAL EXPERIENCE ON DESKTOP &amp; MOBILE</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Live System Walkthrough: Production Interfaces</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ounded Rectangle 7"/>
          <p:cNvSpPr/>
          <p:nvPr/>
        </p:nvSpPr>
        <p:spPr>
          <a:xfrm>
            <a:off x="731520" y="1353312"/>
            <a:ext cx="3456432" cy="4041648"/>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63040"/>
            <a:ext cx="3182112" cy="365760"/>
          </a:xfrm>
          <a:prstGeom prst="rect">
            <a:avLst/>
          </a:prstGeom>
          <a:noFill/>
        </p:spPr>
        <p:txBody>
          <a:bodyPr wrap="none">
            <a:spAutoFit/>
          </a:bodyPr>
          <a:lstStyle/>
          <a:p>
            <a:pPr>
              <a:defRPr b="1" sz="1600">
                <a:solidFill>
                  <a:srgbClr val="2563EB"/>
                </a:solidFill>
              </a:defRPr>
            </a:pPr>
            <a:r>
              <a:t>Operational Dashboard</a:t>
            </a:r>
          </a:p>
        </p:txBody>
      </p:sp>
      <p:pic>
        <p:nvPicPr>
          <p:cNvPr id="10" name="Picture 9" descr="screenshot_2_dashboard.png"/>
          <p:cNvPicPr>
            <a:picLocks noChangeAspect="1"/>
          </p:cNvPicPr>
          <p:nvPr/>
        </p:nvPicPr>
        <p:blipFill>
          <a:blip r:embed="rId2"/>
          <a:stretch>
            <a:fillRect/>
          </a:stretch>
        </p:blipFill>
        <p:spPr>
          <a:xfrm>
            <a:off x="914400" y="1874519"/>
            <a:ext cx="3090672" cy="1737655"/>
          </a:xfrm>
          <a:prstGeom prst="rect">
            <a:avLst/>
          </a:prstGeom>
        </p:spPr>
      </p:pic>
      <p:sp>
        <p:nvSpPr>
          <p:cNvPr id="11" name="TextBox 10"/>
          <p:cNvSpPr txBox="1"/>
          <p:nvPr/>
        </p:nvSpPr>
        <p:spPr>
          <a:xfrm>
            <a:off x="896112" y="3712463"/>
            <a:ext cx="3127248" cy="1600200"/>
          </a:xfrm>
          <a:prstGeom prst="rect">
            <a:avLst/>
          </a:prstGeom>
          <a:noFill/>
        </p:spPr>
        <p:txBody>
          <a:bodyPr wrap="square" lIns="0" tIns="0" rIns="0" bIns="0">
            <a:spAutoFit/>
          </a:bodyPr>
          <a:lstStyle/>
          <a:p>
            <a:pPr>
              <a:defRPr sz="1200">
                <a:solidFill>
                  <a:srgbClr val="334155"/>
                </a:solidFill>
              </a:defRPr>
            </a:pPr>
            <a:r>
              <a:t>• Top-level KPI summary cards: Total Items, Inventory Valuation, Low-Stock Alerts, and Out-of-Stock warnings.</a:t>
            </a:r>
            <a:br/>
            <a:r>
              <a:t>• Quick-action buttons allow staff to log Stock IN / OUT in under 5 seconds.</a:t>
            </a:r>
            <a:br/>
            <a:r>
              <a:t>• Gives warehouse supervisors a real-time operational pulse upon login.</a:t>
            </a:r>
          </a:p>
        </p:txBody>
      </p:sp>
      <p:sp>
        <p:nvSpPr>
          <p:cNvPr id="12" name="Rounded Rectangle 11"/>
          <p:cNvSpPr/>
          <p:nvPr/>
        </p:nvSpPr>
        <p:spPr>
          <a:xfrm>
            <a:off x="4343400" y="1353312"/>
            <a:ext cx="3456432" cy="4041648"/>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463040"/>
            <a:ext cx="3182112" cy="365760"/>
          </a:xfrm>
          <a:prstGeom prst="rect">
            <a:avLst/>
          </a:prstGeom>
          <a:noFill/>
        </p:spPr>
        <p:txBody>
          <a:bodyPr wrap="none">
            <a:spAutoFit/>
          </a:bodyPr>
          <a:lstStyle/>
          <a:p>
            <a:pPr>
              <a:defRPr b="1" sz="1600">
                <a:solidFill>
                  <a:srgbClr val="10B981"/>
                </a:solidFill>
              </a:defRPr>
            </a:pPr>
            <a:r>
              <a:t>Real-Time Inventory Catalog</a:t>
            </a:r>
          </a:p>
        </p:txBody>
      </p:sp>
      <p:pic>
        <p:nvPicPr>
          <p:cNvPr id="14" name="Picture 13" descr="screenshot_3_inventory.png"/>
          <p:cNvPicPr>
            <a:picLocks noChangeAspect="1"/>
          </p:cNvPicPr>
          <p:nvPr/>
        </p:nvPicPr>
        <p:blipFill>
          <a:blip r:embed="rId3"/>
          <a:stretch>
            <a:fillRect/>
          </a:stretch>
        </p:blipFill>
        <p:spPr>
          <a:xfrm>
            <a:off x="4526280" y="1874519"/>
            <a:ext cx="3090672" cy="1737655"/>
          </a:xfrm>
          <a:prstGeom prst="rect">
            <a:avLst/>
          </a:prstGeom>
        </p:spPr>
      </p:pic>
      <p:sp>
        <p:nvSpPr>
          <p:cNvPr id="15" name="TextBox 14"/>
          <p:cNvSpPr txBox="1"/>
          <p:nvPr/>
        </p:nvSpPr>
        <p:spPr>
          <a:xfrm>
            <a:off x="4507992" y="3712463"/>
            <a:ext cx="3127248" cy="1600200"/>
          </a:xfrm>
          <a:prstGeom prst="rect">
            <a:avLst/>
          </a:prstGeom>
          <a:noFill/>
        </p:spPr>
        <p:txBody>
          <a:bodyPr wrap="square" lIns="0" tIns="0" rIns="0" bIns="0">
            <a:spAutoFit/>
          </a:bodyPr>
          <a:lstStyle/>
          <a:p>
            <a:pPr>
              <a:defRPr sz="1200">
                <a:solidFill>
                  <a:srgbClr val="334155"/>
                </a:solidFill>
              </a:defRPr>
            </a:pPr>
            <a:r>
              <a:t>• Filterable and searchable catalog with live SKU search, category pills, and warehouse location badges.</a:t>
            </a:r>
            <a:br/>
            <a:r>
              <a:t>• Dynamic color indicators instantly show items nearing depletion.</a:t>
            </a:r>
            <a:br/>
            <a:r>
              <a:t>• Supports inline edit, restocking, and soft-delete archive.</a:t>
            </a:r>
          </a:p>
        </p:txBody>
      </p:sp>
      <p:sp>
        <p:nvSpPr>
          <p:cNvPr id="16" name="Rounded Rectangle 15"/>
          <p:cNvSpPr/>
          <p:nvPr/>
        </p:nvSpPr>
        <p:spPr>
          <a:xfrm>
            <a:off x="7955280" y="1353312"/>
            <a:ext cx="3456432" cy="4041648"/>
          </a:xfrm>
          <a:prstGeom prst="roundRect">
            <a:avLst/>
          </a:prstGeom>
          <a:solidFill>
            <a:srgbClr val="FFFF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1463040"/>
            <a:ext cx="3182112" cy="365760"/>
          </a:xfrm>
          <a:prstGeom prst="rect">
            <a:avLst/>
          </a:prstGeom>
          <a:noFill/>
        </p:spPr>
        <p:txBody>
          <a:bodyPr wrap="none">
            <a:spAutoFit/>
          </a:bodyPr>
          <a:lstStyle/>
          <a:p>
            <a:pPr>
              <a:defRPr b="1" sz="1600">
                <a:solidFill>
                  <a:srgbClr val="8B5CF6"/>
                </a:solidFill>
              </a:defRPr>
            </a:pPr>
            <a:r>
              <a:t>Comprehensive Movement Reports</a:t>
            </a:r>
          </a:p>
        </p:txBody>
      </p:sp>
      <p:pic>
        <p:nvPicPr>
          <p:cNvPr id="18" name="Picture 17" descr="screenshot_6_reports.png"/>
          <p:cNvPicPr>
            <a:picLocks noChangeAspect="1"/>
          </p:cNvPicPr>
          <p:nvPr/>
        </p:nvPicPr>
        <p:blipFill>
          <a:blip r:embed="rId4"/>
          <a:stretch>
            <a:fillRect/>
          </a:stretch>
        </p:blipFill>
        <p:spPr>
          <a:xfrm>
            <a:off x="8138160" y="1874519"/>
            <a:ext cx="3090672" cy="1737655"/>
          </a:xfrm>
          <a:prstGeom prst="rect">
            <a:avLst/>
          </a:prstGeom>
        </p:spPr>
      </p:pic>
      <p:sp>
        <p:nvSpPr>
          <p:cNvPr id="19" name="TextBox 18"/>
          <p:cNvSpPr txBox="1"/>
          <p:nvPr/>
        </p:nvSpPr>
        <p:spPr>
          <a:xfrm>
            <a:off x="8119872" y="3712463"/>
            <a:ext cx="3127248" cy="1600200"/>
          </a:xfrm>
          <a:prstGeom prst="rect">
            <a:avLst/>
          </a:prstGeom>
          <a:noFill/>
        </p:spPr>
        <p:txBody>
          <a:bodyPr wrap="square" lIns="0" tIns="0" rIns="0" bIns="0">
            <a:spAutoFit/>
          </a:bodyPr>
          <a:lstStyle/>
          <a:p>
            <a:pPr>
              <a:defRPr sz="1200">
                <a:solidFill>
                  <a:srgbClr val="334155"/>
                </a:solidFill>
              </a:defRPr>
            </a:pPr>
            <a:r>
              <a:t>• Complete chronological transaction audit log with filter by date, warehouse, and movement type.</a:t>
            </a:r>
            <a:br/>
            <a:r>
              <a:t>• Displays exact quantities, timestamp, and authenticated user identity.</a:t>
            </a:r>
            <a:br/>
            <a:r>
              <a:t>• Eliminates disputes by providing proof of every dispatch.</a:t>
            </a:r>
          </a:p>
        </p:txBody>
      </p:sp>
      <p:sp>
        <p:nvSpPr>
          <p:cNvPr id="20" name="Rounded Rectangle 19"/>
          <p:cNvSpPr/>
          <p:nvPr/>
        </p:nvSpPr>
        <p:spPr>
          <a:xfrm>
            <a:off x="731520" y="5532120"/>
            <a:ext cx="10698480" cy="77724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605272"/>
            <a:ext cx="10332720" cy="63093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"Point to the 3 actual screens of our running application: The Dashboard gives managers the big picture, the Inventory Catalog lets clerks find and restock items quickly, and the Reports tab provides an undeniable audit history."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PROBLEM SOLVING • OVERCOMING REAL-WORLD DEVELOPMENT HURDLES</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Key Engineering Challenges &amp; Technical Solutions</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ounded Rectangle 7"/>
          <p:cNvSpPr/>
          <p:nvPr/>
        </p:nvSpPr>
        <p:spPr>
          <a:xfrm>
            <a:off x="731520" y="1371600"/>
            <a:ext cx="10698480" cy="118872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1600200"/>
            <a:ext cx="685800" cy="6858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01</a:t>
            </a:r>
          </a:p>
        </p:txBody>
      </p:sp>
      <p:sp>
        <p:nvSpPr>
          <p:cNvPr id="10" name="TextBox 9"/>
          <p:cNvSpPr txBox="1"/>
          <p:nvPr/>
        </p:nvSpPr>
        <p:spPr>
          <a:xfrm>
            <a:off x="1828800" y="1463040"/>
            <a:ext cx="9418320" cy="1005840"/>
          </a:xfrm>
          <a:prstGeom prst="rect">
            <a:avLst/>
          </a:prstGeom>
          <a:noFill/>
        </p:spPr>
        <p:txBody>
          <a:bodyPr wrap="square" lIns="0" tIns="0" rIns="0" bIns="0">
            <a:spAutoFit/>
          </a:bodyPr>
          <a:lstStyle/>
          <a:p>
            <a:pPr>
              <a:defRPr b="1" sz="1550">
                <a:solidFill>
                  <a:srgbClr val="EF4444"/>
                </a:solidFill>
              </a:defRPr>
            </a:pPr>
            <a:r>
              <a:t>Preventing Race Conditions &amp; Negative Stock</a:t>
            </a:r>
          </a:p>
          <a:p>
            <a:pPr>
              <a:spcBef>
                <a:spcPts val="200"/>
              </a:spcBef>
            </a:pPr>
            <a:r>
              <a:rPr b="1" sz="1250">
                <a:solidFill>
                  <a:srgbClr val="EF4444"/>
                </a:solidFill>
              </a:rPr>
              <a:t>The Hurdle: </a:t>
            </a:r>
            <a:r>
              <a:rPr sz="1250">
                <a:solidFill>
                  <a:srgbClr val="334155"/>
                </a:solidFill>
              </a:rPr>
              <a:t>In high-traffic warehouses, two clerks dispatching the last 5 items at the exact same moment could result in a negative balance of -5, breaking accounting integrity. </a:t>
            </a:r>
            <a:r>
              <a:rPr b="1" sz="1250">
                <a:solidFill>
                  <a:srgbClr val="10B981"/>
                </a:solidFill>
              </a:rPr>
              <a:t>How We Solved It: </a:t>
            </a:r>
            <a:r>
              <a:rPr sz="1250">
                <a:solidFill>
                  <a:srgbClr val="334155"/>
                </a:solidFill>
              </a:rPr>
              <a:t>We implemented atomic conditional updates at the database level using Mongoose query conditions: { _id: id, quantity: { $gte: reqQty } }, combined with schema-level validation min: 0. If stock is insufficient, the operation is blocked atomically.</a:t>
            </a:r>
          </a:p>
        </p:txBody>
      </p:sp>
      <p:sp>
        <p:nvSpPr>
          <p:cNvPr id="11" name="Rounded Rectangle 10"/>
          <p:cNvSpPr/>
          <p:nvPr/>
        </p:nvSpPr>
        <p:spPr>
          <a:xfrm>
            <a:off x="731520" y="2697480"/>
            <a:ext cx="10698480" cy="11887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926080"/>
            <a:ext cx="685800" cy="685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02</a:t>
            </a:r>
          </a:p>
        </p:txBody>
      </p:sp>
      <p:sp>
        <p:nvSpPr>
          <p:cNvPr id="13" name="TextBox 12"/>
          <p:cNvSpPr txBox="1"/>
          <p:nvPr/>
        </p:nvSpPr>
        <p:spPr>
          <a:xfrm>
            <a:off x="1828800" y="2788920"/>
            <a:ext cx="9418320" cy="1005840"/>
          </a:xfrm>
          <a:prstGeom prst="rect">
            <a:avLst/>
          </a:prstGeom>
          <a:noFill/>
        </p:spPr>
        <p:txBody>
          <a:bodyPr wrap="square" lIns="0" tIns="0" rIns="0" bIns="0">
            <a:spAutoFit/>
          </a:bodyPr>
          <a:lstStyle/>
          <a:p>
            <a:pPr>
              <a:defRPr b="1" sz="1550">
                <a:solidFill>
                  <a:srgbClr val="F59E0B"/>
                </a:solidFill>
              </a:defRPr>
            </a:pPr>
            <a:r>
              <a:t>Node.js 24 Cloud DNS Resolution on Atlas</a:t>
            </a:r>
          </a:p>
          <a:p>
            <a:pPr>
              <a:spcBef>
                <a:spcPts val="200"/>
              </a:spcBef>
            </a:pPr>
            <a:r>
              <a:rPr b="1" sz="1250">
                <a:solidFill>
                  <a:srgbClr val="0F172A"/>
                </a:solidFill>
              </a:rPr>
              <a:t>The Hurdle: </a:t>
            </a:r>
            <a:r>
              <a:rPr sz="1250">
                <a:solidFill>
                  <a:srgbClr val="334155"/>
                </a:solidFill>
              </a:rPr>
              <a:t>Node.js v24 introduced strict RFC-compliant DNS SRV lookups, causing intermittent connection timeouts when resolving mongodb+srv:// Atlas URIs on certain ISP routers. </a:t>
            </a:r>
            <a:r>
              <a:rPr b="1" sz="1250">
                <a:solidFill>
                  <a:srgbClr val="10B981"/>
                </a:solidFill>
              </a:rPr>
              <a:t>How We Solved It: </a:t>
            </a:r>
            <a:r>
              <a:rPr sz="1250">
                <a:solidFill>
                  <a:srgbClr val="334155"/>
                </a:solidFill>
              </a:rPr>
              <a:t>We configured explicit public DNS resolvers in server.js using dns.setServers(['8.8.8.8', '8.8.4.4']), ensuring instantaneous, reliable database connection in all local and cloud deployment environments.</a:t>
            </a:r>
          </a:p>
        </p:txBody>
      </p:sp>
      <p:sp>
        <p:nvSpPr>
          <p:cNvPr id="14" name="Rounded Rectangle 13"/>
          <p:cNvSpPr/>
          <p:nvPr/>
        </p:nvSpPr>
        <p:spPr>
          <a:xfrm>
            <a:off x="731520" y="4023360"/>
            <a:ext cx="10698480" cy="1188720"/>
          </a:xfrm>
          <a:prstGeom prst="roundRect">
            <a:avLst/>
          </a:prstGeom>
          <a:solidFill>
            <a:srgbClr val="FFFF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4251960"/>
            <a:ext cx="685800" cy="6858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600">
                <a:solidFill>
                  <a:srgbClr val="FFFFFF"/>
                </a:solidFill>
                <a:latin typeface="Calibri"/>
              </a:defRPr>
            </a:pPr>
            <a:r>
              <a:t>03</a:t>
            </a:r>
          </a:p>
        </p:txBody>
      </p:sp>
      <p:sp>
        <p:nvSpPr>
          <p:cNvPr id="16" name="TextBox 15"/>
          <p:cNvSpPr txBox="1"/>
          <p:nvPr/>
        </p:nvSpPr>
        <p:spPr>
          <a:xfrm>
            <a:off x="1828800" y="4114800"/>
            <a:ext cx="9418320" cy="1005840"/>
          </a:xfrm>
          <a:prstGeom prst="rect">
            <a:avLst/>
          </a:prstGeom>
          <a:noFill/>
        </p:spPr>
        <p:txBody>
          <a:bodyPr wrap="square" lIns="0" tIns="0" rIns="0" bIns="0">
            <a:spAutoFit/>
          </a:bodyPr>
          <a:lstStyle/>
          <a:p>
            <a:pPr>
              <a:defRPr b="1" sz="1550">
                <a:solidFill>
                  <a:srgbClr val="8B5CF6"/>
                </a:solidFill>
              </a:defRPr>
            </a:pPr>
            <a:r>
              <a:t>Real-Time UI Synchronization Without Reloads</a:t>
            </a:r>
          </a:p>
          <a:p>
            <a:pPr>
              <a:spcBef>
                <a:spcPts val="200"/>
              </a:spcBef>
            </a:pPr>
            <a:r>
              <a:rPr b="1" sz="1250">
                <a:solidFill>
                  <a:srgbClr val="0F172A"/>
                </a:solidFill>
              </a:rPr>
              <a:t>The Hurdle: </a:t>
            </a:r>
            <a:r>
              <a:rPr sz="1250">
                <a:solidFill>
                  <a:srgbClr val="334155"/>
                </a:solidFill>
              </a:rPr>
              <a:t>Staff shouldn't have to hit browser refresh (F5) to see updated quantities or low-stock banners after completing a dispatch or receipt. </a:t>
            </a:r>
            <a:r>
              <a:rPr b="1" sz="1250">
                <a:solidFill>
                  <a:srgbClr val="10B981"/>
                </a:solidFill>
              </a:rPr>
              <a:t>How We Solved It: </a:t>
            </a:r>
            <a:r>
              <a:rPr sz="1250">
                <a:solidFill>
                  <a:srgbClr val="334155"/>
                </a:solidFill>
              </a:rPr>
              <a:t>We engineered optimistic UI updates and reactive state hooks in React. The moment the backend confirms the stock change, local state updates seamlessly and triggers an async metric re-fetch in the background.</a:t>
            </a:r>
          </a:p>
        </p:txBody>
      </p:sp>
      <p:sp>
        <p:nvSpPr>
          <p:cNvPr id="17" name="Rounded Rectangle 16"/>
          <p:cNvSpPr/>
          <p:nvPr/>
        </p:nvSpPr>
        <p:spPr>
          <a:xfrm>
            <a:off x="731520" y="5486400"/>
            <a:ext cx="10698480" cy="8229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59552"/>
            <a:ext cx="10332720" cy="67665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"Evaluators love seeing technical problem-solving! Explain that we didn't just write a simple CRUD app—we solved real concurrency race conditions, resolved Node 24 DNS lookups on MongoDB Atlas, and built reactive state sync."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IMPACT ASSESSMENT • MEASURABLE OPERATIONAL TRANSFORMATION</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Comparative Analysis: Traditional vs. SmartInventory</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ounded Rectangle 7"/>
          <p:cNvSpPr/>
          <p:nvPr/>
        </p:nvSpPr>
        <p:spPr>
          <a:xfrm>
            <a:off x="731520" y="1371600"/>
            <a:ext cx="5120640" cy="3931920"/>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554480"/>
            <a:ext cx="640080" cy="64008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a:t>
            </a:r>
          </a:p>
        </p:txBody>
      </p:sp>
      <p:sp>
        <p:nvSpPr>
          <p:cNvPr id="10" name="TextBox 9"/>
          <p:cNvSpPr txBox="1"/>
          <p:nvPr/>
        </p:nvSpPr>
        <p:spPr>
          <a:xfrm>
            <a:off x="1828800" y="1600200"/>
            <a:ext cx="3840480" cy="548640"/>
          </a:xfrm>
          <a:prstGeom prst="rect">
            <a:avLst/>
          </a:prstGeom>
          <a:noFill/>
        </p:spPr>
        <p:txBody>
          <a:bodyPr wrap="none">
            <a:spAutoFit/>
          </a:bodyPr>
          <a:lstStyle/>
          <a:p>
            <a:pPr>
              <a:defRPr b="1" sz="1800">
                <a:solidFill>
                  <a:srgbClr val="EF4444"/>
                </a:solidFill>
              </a:defRPr>
            </a:pPr>
            <a:r>
              <a:t>Traditional Spreadsheets &amp; Paper</a:t>
            </a:r>
          </a:p>
        </p:txBody>
      </p:sp>
      <p:sp>
        <p:nvSpPr>
          <p:cNvPr id="11" name="TextBox 10"/>
          <p:cNvSpPr txBox="1"/>
          <p:nvPr/>
        </p:nvSpPr>
        <p:spPr>
          <a:xfrm>
            <a:off x="1005840" y="2286000"/>
            <a:ext cx="4663440" cy="2834640"/>
          </a:xfrm>
          <a:prstGeom prst="rect">
            <a:avLst/>
          </a:prstGeom>
          <a:noFill/>
        </p:spPr>
        <p:txBody>
          <a:bodyPr wrap="square">
            <a:spAutoFit/>
          </a:bodyPr>
          <a:lstStyle/>
          <a:p/>
          <a:p>
            <a:pPr>
              <a:spcBef>
                <a:spcPts val="600"/>
              </a:spcBef>
            </a:pPr>
            <a:r>
              <a:rPr sz="1350">
                <a:solidFill>
                  <a:srgbClr val="0F172A"/>
                </a:solidFill>
              </a:rPr>
              <a:t>• Prone to human typo errors and accidental formula overwrites.</a:t>
            </a:r>
          </a:p>
          <a:p>
            <a:pPr>
              <a:spcBef>
                <a:spcPts val="600"/>
              </a:spcBef>
            </a:pPr>
            <a:r>
              <a:rPr sz="1350">
                <a:solidFill>
                  <a:srgbClr val="0F172A"/>
                </a:solidFill>
              </a:rPr>
              <a:t>• Zero concurrency protection when multiple staff members log dispatches.</a:t>
            </a:r>
          </a:p>
          <a:p>
            <a:pPr>
              <a:spcBef>
                <a:spcPts val="600"/>
              </a:spcBef>
            </a:pPr>
            <a:r>
              <a:rPr sz="1350">
                <a:solidFill>
                  <a:srgbClr val="0F172A"/>
                </a:solidFill>
              </a:rPr>
              <a:t>• No audit trail; impossible to prove who removed stock or when.</a:t>
            </a:r>
          </a:p>
          <a:p>
            <a:pPr>
              <a:spcBef>
                <a:spcPts val="600"/>
              </a:spcBef>
            </a:pPr>
            <a:r>
              <a:rPr sz="1350">
                <a:solidFill>
                  <a:srgbClr val="0F172A"/>
                </a:solidFill>
              </a:rPr>
              <a:t>• Reordering is purely reactive after products run out completely.</a:t>
            </a:r>
          </a:p>
          <a:p>
            <a:pPr>
              <a:spcBef>
                <a:spcPts val="600"/>
              </a:spcBef>
            </a:pPr>
            <a:r>
              <a:rPr sz="1350">
                <a:solidFill>
                  <a:srgbClr val="0F172A"/>
                </a:solidFill>
              </a:rPr>
              <a:t>• Requires tedious manual stock counts that take hours each week.</a:t>
            </a:r>
          </a:p>
        </p:txBody>
      </p:sp>
      <p:sp>
        <p:nvSpPr>
          <p:cNvPr id="12" name="Rounded Rectangle 11"/>
          <p:cNvSpPr/>
          <p:nvPr/>
        </p:nvSpPr>
        <p:spPr>
          <a:xfrm>
            <a:off x="6217920" y="1371600"/>
            <a:ext cx="5212080" cy="39319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1554480"/>
            <a:ext cx="640080" cy="6400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latin typeface="Calibri"/>
              </a:defRPr>
            </a:pPr>
            <a:r>
              <a:t>✓</a:t>
            </a:r>
          </a:p>
        </p:txBody>
      </p:sp>
      <p:sp>
        <p:nvSpPr>
          <p:cNvPr id="14" name="TextBox 13"/>
          <p:cNvSpPr txBox="1"/>
          <p:nvPr/>
        </p:nvSpPr>
        <p:spPr>
          <a:xfrm>
            <a:off x="7315200" y="1600200"/>
            <a:ext cx="3931920" cy="548640"/>
          </a:xfrm>
          <a:prstGeom prst="rect">
            <a:avLst/>
          </a:prstGeom>
          <a:noFill/>
        </p:spPr>
        <p:txBody>
          <a:bodyPr wrap="none">
            <a:spAutoFit/>
          </a:bodyPr>
          <a:lstStyle/>
          <a:p>
            <a:pPr>
              <a:defRPr b="1" sz="1800">
                <a:solidFill>
                  <a:srgbClr val="10B981"/>
                </a:solidFill>
              </a:defRPr>
            </a:pPr>
            <a:r>
              <a:t>SmartInventory Web Platform</a:t>
            </a:r>
          </a:p>
        </p:txBody>
      </p:sp>
      <p:sp>
        <p:nvSpPr>
          <p:cNvPr id="15" name="TextBox 14"/>
          <p:cNvSpPr txBox="1"/>
          <p:nvPr/>
        </p:nvSpPr>
        <p:spPr>
          <a:xfrm>
            <a:off x="6492240" y="2286000"/>
            <a:ext cx="4754880" cy="2834640"/>
          </a:xfrm>
          <a:prstGeom prst="rect">
            <a:avLst/>
          </a:prstGeom>
          <a:noFill/>
        </p:spPr>
        <p:txBody>
          <a:bodyPr wrap="square">
            <a:spAutoFit/>
          </a:bodyPr>
          <a:lstStyle/>
          <a:p/>
          <a:p>
            <a:pPr>
              <a:spcBef>
                <a:spcPts val="600"/>
              </a:spcBef>
            </a:pPr>
            <a:r>
              <a:rPr sz="1350">
                <a:solidFill>
                  <a:srgbClr val="0F172A"/>
                </a:solidFill>
              </a:rPr>
              <a:t>• 1-Click stock adjustments with automated mathematical precision.</a:t>
            </a:r>
          </a:p>
          <a:p>
            <a:pPr>
              <a:spcBef>
                <a:spcPts val="600"/>
              </a:spcBef>
            </a:pPr>
            <a:r>
              <a:rPr sz="1350">
                <a:solidFill>
                  <a:srgbClr val="0F172A"/>
                </a:solidFill>
              </a:rPr>
              <a:t>• Atomic database writes guarantee consistent inventory counts.</a:t>
            </a:r>
          </a:p>
          <a:p>
            <a:pPr>
              <a:spcBef>
                <a:spcPts val="600"/>
              </a:spcBef>
            </a:pPr>
            <a:r>
              <a:rPr sz="1350">
                <a:solidFill>
                  <a:srgbClr val="0F172A"/>
                </a:solidFill>
              </a:rPr>
              <a:t>• 100% immutable transaction journal with user ID and timestamps.</a:t>
            </a:r>
          </a:p>
          <a:p>
            <a:pPr>
              <a:spcBef>
                <a:spcPts val="600"/>
              </a:spcBef>
            </a:pPr>
            <a:r>
              <a:rPr sz="1350">
                <a:solidFill>
                  <a:srgbClr val="0F172A"/>
                </a:solidFill>
              </a:rPr>
              <a:t>• Proactive low-stock warnings alert managers before stockouts occur.</a:t>
            </a:r>
          </a:p>
          <a:p>
            <a:pPr>
              <a:spcBef>
                <a:spcPts val="600"/>
              </a:spcBef>
            </a:pPr>
            <a:r>
              <a:rPr sz="1350">
                <a:solidFill>
                  <a:srgbClr val="0F172A"/>
                </a:solidFill>
              </a:rPr>
              <a:t>• Real-time cloud dashboard eliminates manual stock reconciliations.</a:t>
            </a:r>
          </a:p>
        </p:txBody>
      </p:sp>
      <p:sp>
        <p:nvSpPr>
          <p:cNvPr id="16" name="Rounded Rectangle 15"/>
          <p:cNvSpPr/>
          <p:nvPr/>
        </p:nvSpPr>
        <p:spPr>
          <a:xfrm>
            <a:off x="731520" y="5486400"/>
            <a:ext cx="10698480" cy="8229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559552"/>
            <a:ext cx="10332720" cy="67665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"Directly contrast the two sides for the committee. On the left is the messy, error-prone spreadsheet reality that causes warehouse losses. On the right is SmartInventory: instant, atomic, fully auditable, and proactive."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914400"/>
            <a:ext cx="2011680" cy="20116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47120" y="594360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
            <a:ext cx="10515600" cy="320040"/>
          </a:xfrm>
          <a:prstGeom prst="rect">
            <a:avLst/>
          </a:prstGeom>
          <a:noFill/>
        </p:spPr>
        <p:txBody>
          <a:bodyPr wrap="none" lIns="0" tIns="0" rIns="0" bIns="0">
            <a:spAutoFit/>
          </a:bodyPr>
          <a:lstStyle/>
          <a:p>
            <a:pPr>
              <a:defRPr b="1" sz="1100">
                <a:solidFill>
                  <a:srgbClr val="2563EB"/>
                </a:solidFill>
                <a:latin typeface="Calibri"/>
              </a:defRPr>
            </a:pPr>
            <a:r>
              <a:t>LONG-TERM VISION • SCALING FROM CAPSTONE TO COMMERCIAL DEPLOYMENT</a:t>
            </a:r>
          </a:p>
        </p:txBody>
      </p:sp>
      <p:sp>
        <p:nvSpPr>
          <p:cNvPr id="6" name="TextBox 5"/>
          <p:cNvSpPr txBox="1"/>
          <p:nvPr/>
        </p:nvSpPr>
        <p:spPr>
          <a:xfrm>
            <a:off x="731520" y="621792"/>
            <a:ext cx="10515600" cy="594360"/>
          </a:xfrm>
          <a:prstGeom prst="rect">
            <a:avLst/>
          </a:prstGeom>
          <a:noFill/>
        </p:spPr>
        <p:txBody>
          <a:bodyPr wrap="none" lIns="0" tIns="0" rIns="0" bIns="0">
            <a:spAutoFit/>
          </a:bodyPr>
          <a:lstStyle/>
          <a:p>
            <a:pPr>
              <a:defRPr b="1" sz="2800">
                <a:solidFill>
                  <a:srgbClr val="1D4ED8"/>
                </a:solidFill>
                <a:latin typeface="Calibri"/>
              </a:defRPr>
            </a:pPr>
            <a:r>
              <a:t>Future Roadmap &amp; Scalability Enhancements</a:t>
            </a:r>
          </a:p>
        </p:txBody>
      </p:sp>
      <p:sp>
        <p:nvSpPr>
          <p:cNvPr id="7" name="TextBox 6"/>
          <p:cNvSpPr txBox="1"/>
          <p:nvPr/>
        </p:nvSpPr>
        <p:spPr>
          <a:xfrm>
            <a:off x="731520" y="6510528"/>
            <a:ext cx="10698480" cy="274320"/>
          </a:xfrm>
          <a:prstGeom prst="rect">
            <a:avLst/>
          </a:prstGeom>
          <a:noFill/>
        </p:spPr>
        <p:txBody>
          <a:bodyPr wrap="none" lIns="0" tIns="0" rIns="0" bIns="0">
            <a:spAutoFit/>
          </a:bodyPr>
          <a:lstStyle/>
          <a:p>
            <a:pPr>
              <a:defRPr sz="950">
                <a:solidFill>
                  <a:srgbClr val="94A3B8"/>
                </a:solidFill>
                <a:latin typeface="Calibri"/>
              </a:defRPr>
            </a:pPr>
            <a:r>
              <a:t>SmartInventory Capstone Project | B.Tech CSE (2025–2026) • Lovely Professional University</a:t>
            </a:r>
          </a:p>
        </p:txBody>
      </p:sp>
      <p:sp>
        <p:nvSpPr>
          <p:cNvPr id="8" name="Rectangle 7"/>
          <p:cNvSpPr/>
          <p:nvPr/>
        </p:nvSpPr>
        <p:spPr>
          <a:xfrm>
            <a:off x="731520" y="1371600"/>
            <a:ext cx="10698480" cy="3657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PLANNED ENGINEERING ROADMAP: 4 STRATEGIC PHASES</a:t>
            </a:r>
          </a:p>
        </p:txBody>
      </p:sp>
      <p:sp>
        <p:nvSpPr>
          <p:cNvPr id="9" name="Rounded Rectangle 8"/>
          <p:cNvSpPr/>
          <p:nvPr/>
        </p:nvSpPr>
        <p:spPr>
          <a:xfrm>
            <a:off x="731520" y="1874519"/>
            <a:ext cx="2542032" cy="34290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057400"/>
            <a:ext cx="10972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Phase 1</a:t>
            </a:r>
          </a:p>
        </p:txBody>
      </p:sp>
      <p:sp>
        <p:nvSpPr>
          <p:cNvPr id="11" name="TextBox 10"/>
          <p:cNvSpPr txBox="1"/>
          <p:nvPr/>
        </p:nvSpPr>
        <p:spPr>
          <a:xfrm>
            <a:off x="914400" y="2514600"/>
            <a:ext cx="2176272" cy="594360"/>
          </a:xfrm>
          <a:prstGeom prst="rect">
            <a:avLst/>
          </a:prstGeom>
          <a:noFill/>
        </p:spPr>
        <p:txBody>
          <a:bodyPr wrap="square" lIns="0" tIns="0" rIns="0" bIns="0">
            <a:spAutoFit/>
          </a:bodyPr>
          <a:lstStyle/>
          <a:p>
            <a:pPr>
              <a:defRPr b="1" sz="1600">
                <a:solidFill>
                  <a:srgbClr val="2563EB"/>
                </a:solidFill>
              </a:defRPr>
            </a:pPr>
            <a:r>
              <a:t>Barcode &amp; QR Scanning</a:t>
            </a:r>
          </a:p>
        </p:txBody>
      </p:sp>
      <p:sp>
        <p:nvSpPr>
          <p:cNvPr id="12" name="TextBox 11"/>
          <p:cNvSpPr txBox="1"/>
          <p:nvPr/>
        </p:nvSpPr>
        <p:spPr>
          <a:xfrm>
            <a:off x="914400" y="3200400"/>
            <a:ext cx="2176272" cy="1920240"/>
          </a:xfrm>
          <a:prstGeom prst="rect">
            <a:avLst/>
          </a:prstGeom>
          <a:noFill/>
        </p:spPr>
        <p:txBody>
          <a:bodyPr wrap="square" lIns="0" tIns="0" rIns="0" bIns="0">
            <a:spAutoFit/>
          </a:bodyPr>
          <a:lstStyle/>
          <a:p>
            <a:pPr>
              <a:defRPr sz="1300">
                <a:solidFill>
                  <a:srgbClr val="334155"/>
                </a:solidFill>
              </a:defRPr>
            </a:pPr>
            <a:r>
              <a:t>Direct mobile camera barcode scanning integrated into the browser, enabling storekeepers to scan boxes for instant Stock IN / OUT without typing SKUs manually.</a:t>
            </a:r>
          </a:p>
        </p:txBody>
      </p:sp>
      <p:sp>
        <p:nvSpPr>
          <p:cNvPr id="13" name="Rounded Rectangle 12"/>
          <p:cNvSpPr/>
          <p:nvPr/>
        </p:nvSpPr>
        <p:spPr>
          <a:xfrm>
            <a:off x="3429000" y="1874519"/>
            <a:ext cx="2542032" cy="34290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11880" y="2057400"/>
            <a:ext cx="109728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Phase 2</a:t>
            </a:r>
          </a:p>
        </p:txBody>
      </p:sp>
      <p:sp>
        <p:nvSpPr>
          <p:cNvPr id="15" name="TextBox 14"/>
          <p:cNvSpPr txBox="1"/>
          <p:nvPr/>
        </p:nvSpPr>
        <p:spPr>
          <a:xfrm>
            <a:off x="3611880" y="2514600"/>
            <a:ext cx="2176272" cy="594360"/>
          </a:xfrm>
          <a:prstGeom prst="rect">
            <a:avLst/>
          </a:prstGeom>
          <a:noFill/>
        </p:spPr>
        <p:txBody>
          <a:bodyPr wrap="square" lIns="0" tIns="0" rIns="0" bIns="0">
            <a:spAutoFit/>
          </a:bodyPr>
          <a:lstStyle/>
          <a:p>
            <a:pPr>
              <a:defRPr b="1" sz="1600">
                <a:solidFill>
                  <a:srgbClr val="10B981"/>
                </a:solidFill>
              </a:defRPr>
            </a:pPr>
            <a:r>
              <a:t>AI Demand Forecasting</a:t>
            </a:r>
          </a:p>
        </p:txBody>
      </p:sp>
      <p:sp>
        <p:nvSpPr>
          <p:cNvPr id="16" name="TextBox 15"/>
          <p:cNvSpPr txBox="1"/>
          <p:nvPr/>
        </p:nvSpPr>
        <p:spPr>
          <a:xfrm>
            <a:off x="3611880" y="3200400"/>
            <a:ext cx="2176272" cy="1920240"/>
          </a:xfrm>
          <a:prstGeom prst="rect">
            <a:avLst/>
          </a:prstGeom>
          <a:noFill/>
        </p:spPr>
        <p:txBody>
          <a:bodyPr wrap="square" lIns="0" tIns="0" rIns="0" bIns="0">
            <a:spAutoFit/>
          </a:bodyPr>
          <a:lstStyle/>
          <a:p>
            <a:pPr>
              <a:defRPr sz="1300">
                <a:solidFill>
                  <a:srgbClr val="334155"/>
                </a:solidFill>
              </a:defRPr>
            </a:pPr>
            <a:r>
              <a:t>Machine learning regression models analyzing seasonal purchase trends to recommend automated reorder quantities and prevent over-stocking dead capital.</a:t>
            </a:r>
          </a:p>
        </p:txBody>
      </p:sp>
      <p:sp>
        <p:nvSpPr>
          <p:cNvPr id="17" name="Rounded Rectangle 16"/>
          <p:cNvSpPr/>
          <p:nvPr/>
        </p:nvSpPr>
        <p:spPr>
          <a:xfrm>
            <a:off x="6126480" y="1874519"/>
            <a:ext cx="2542032" cy="34290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09360" y="2057400"/>
            <a:ext cx="109728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Phase 3</a:t>
            </a:r>
          </a:p>
        </p:txBody>
      </p:sp>
      <p:sp>
        <p:nvSpPr>
          <p:cNvPr id="19" name="TextBox 18"/>
          <p:cNvSpPr txBox="1"/>
          <p:nvPr/>
        </p:nvSpPr>
        <p:spPr>
          <a:xfrm>
            <a:off x="6309360" y="2514600"/>
            <a:ext cx="2176272" cy="594360"/>
          </a:xfrm>
          <a:prstGeom prst="rect">
            <a:avLst/>
          </a:prstGeom>
          <a:noFill/>
        </p:spPr>
        <p:txBody>
          <a:bodyPr wrap="square" lIns="0" tIns="0" rIns="0" bIns="0">
            <a:spAutoFit/>
          </a:bodyPr>
          <a:lstStyle/>
          <a:p>
            <a:pPr>
              <a:defRPr b="1" sz="1600">
                <a:solidFill>
                  <a:srgbClr val="F59E0B"/>
                </a:solidFill>
              </a:defRPr>
            </a:pPr>
            <a:r>
              <a:t>Automated Supplier POs</a:t>
            </a:r>
          </a:p>
        </p:txBody>
      </p:sp>
      <p:sp>
        <p:nvSpPr>
          <p:cNvPr id="20" name="TextBox 19"/>
          <p:cNvSpPr txBox="1"/>
          <p:nvPr/>
        </p:nvSpPr>
        <p:spPr>
          <a:xfrm>
            <a:off x="6309360" y="3200400"/>
            <a:ext cx="2176272" cy="1920240"/>
          </a:xfrm>
          <a:prstGeom prst="rect">
            <a:avLst/>
          </a:prstGeom>
          <a:noFill/>
        </p:spPr>
        <p:txBody>
          <a:bodyPr wrap="square" lIns="0" tIns="0" rIns="0" bIns="0">
            <a:spAutoFit/>
          </a:bodyPr>
          <a:lstStyle/>
          <a:p>
            <a:pPr>
              <a:defRPr sz="1300">
                <a:solidFill>
                  <a:srgbClr val="334155"/>
                </a:solidFill>
              </a:defRPr>
            </a:pPr>
            <a:r>
              <a:t>Automated purchase order email generation dispatched directly to registered suppliers the second an item drops below safety threshold.</a:t>
            </a:r>
          </a:p>
        </p:txBody>
      </p:sp>
      <p:sp>
        <p:nvSpPr>
          <p:cNvPr id="21" name="Rounded Rectangle 20"/>
          <p:cNvSpPr/>
          <p:nvPr/>
        </p:nvSpPr>
        <p:spPr>
          <a:xfrm>
            <a:off x="8823960" y="1874519"/>
            <a:ext cx="2542032" cy="3429000"/>
          </a:xfrm>
          <a:prstGeom prst="roundRect">
            <a:avLst/>
          </a:prstGeom>
          <a:solidFill>
            <a:srgbClr val="FFFF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06840" y="2057400"/>
            <a:ext cx="109728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Phase 4</a:t>
            </a:r>
          </a:p>
        </p:txBody>
      </p:sp>
      <p:sp>
        <p:nvSpPr>
          <p:cNvPr id="23" name="TextBox 22"/>
          <p:cNvSpPr txBox="1"/>
          <p:nvPr/>
        </p:nvSpPr>
        <p:spPr>
          <a:xfrm>
            <a:off x="9006840" y="2514600"/>
            <a:ext cx="2176272" cy="594360"/>
          </a:xfrm>
          <a:prstGeom prst="rect">
            <a:avLst/>
          </a:prstGeom>
          <a:noFill/>
        </p:spPr>
        <p:txBody>
          <a:bodyPr wrap="square" lIns="0" tIns="0" rIns="0" bIns="0">
            <a:spAutoFit/>
          </a:bodyPr>
          <a:lstStyle/>
          <a:p>
            <a:pPr>
              <a:defRPr b="1" sz="1600">
                <a:solidFill>
                  <a:srgbClr val="8B5CF6"/>
                </a:solidFill>
              </a:defRPr>
            </a:pPr>
            <a:r>
              <a:t>Offline PWA Sync</a:t>
            </a:r>
          </a:p>
        </p:txBody>
      </p:sp>
      <p:sp>
        <p:nvSpPr>
          <p:cNvPr id="24" name="TextBox 23"/>
          <p:cNvSpPr txBox="1"/>
          <p:nvPr/>
        </p:nvSpPr>
        <p:spPr>
          <a:xfrm>
            <a:off x="9006840" y="3200400"/>
            <a:ext cx="2176272" cy="1920240"/>
          </a:xfrm>
          <a:prstGeom prst="rect">
            <a:avLst/>
          </a:prstGeom>
          <a:noFill/>
        </p:spPr>
        <p:txBody>
          <a:bodyPr wrap="square" lIns="0" tIns="0" rIns="0" bIns="0">
            <a:spAutoFit/>
          </a:bodyPr>
          <a:lstStyle/>
          <a:p>
            <a:pPr>
              <a:defRPr sz="1300">
                <a:solidFill>
                  <a:srgbClr val="334155"/>
                </a:solidFill>
              </a:defRPr>
            </a:pPr>
            <a:r>
              <a:t>Progressive Web App with local IndexedDB storage, enabling warehouse workers in zero-connectivity basement racks to log movements and sync automatically once online.</a:t>
            </a:r>
          </a:p>
        </p:txBody>
      </p:sp>
      <p:sp>
        <p:nvSpPr>
          <p:cNvPr id="25" name="Rounded Rectangle 24"/>
          <p:cNvSpPr/>
          <p:nvPr/>
        </p:nvSpPr>
        <p:spPr>
          <a:xfrm>
            <a:off x="731520" y="5486400"/>
            <a:ext cx="10698480" cy="82296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559552"/>
            <a:ext cx="10332720" cy="67665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"Show the committee that you have a clear vision for real-world scaling. Highlight barcode scanning for speed, AI forecasting to reduce dead stock, automated supplier emails, and offline PWA mode for basement warehouses."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200400" y="4754880"/>
            <a:ext cx="2743200" cy="2743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14400"/>
            <a:ext cx="3657600" cy="5029200"/>
          </a:xfrm>
          <a:prstGeom prst="rect">
            <a:avLst/>
          </a:prstGeom>
          <a:noFill/>
        </p:spPr>
        <p:txBody>
          <a:bodyPr wrap="square">
            <a:spAutoFit/>
          </a:bodyPr>
          <a:lstStyle/>
          <a:p>
            <a:pPr>
              <a:spcAft>
                <a:spcPts val="1400"/>
              </a:spcAft>
              <a:defRPr b="1" sz="2600">
                <a:solidFill>
                  <a:srgbClr val="FFFFFF"/>
                </a:solidFill>
              </a:defRPr>
            </a:pPr>
            <a:r>
              <a:t>Project Summary</a:t>
            </a:r>
          </a:p>
          <a:p>
            <a:pPr>
              <a:spcAft>
                <a:spcPts val="800"/>
              </a:spcAft>
            </a:pPr>
            <a:r>
              <a:rPr b="1" sz="1450">
                <a:solidFill>
                  <a:srgbClr val="93C5FD"/>
                </a:solidFill>
              </a:rPr>
              <a:t>✓ 100% Pass Rate
</a:t>
            </a:r>
            <a:r>
              <a:rPr sz="1200">
                <a:solidFill>
                  <a:srgbClr val="FFFFFF"/>
                </a:solidFill>
              </a:rPr>
              <a:t>Verified across 8 formal functional test cases (TC-01 through TC-08).</a:t>
            </a:r>
          </a:p>
          <a:p>
            <a:pPr>
              <a:spcAft>
                <a:spcPts val="800"/>
              </a:spcAft>
            </a:pPr>
            <a:r>
              <a:rPr b="1" sz="1450">
                <a:solidFill>
                  <a:srgbClr val="93C5FD"/>
                </a:solidFill>
              </a:rPr>
              <a:t>✓ Zero Negative Stock
</a:t>
            </a:r>
            <a:r>
              <a:rPr sz="1200">
                <a:solidFill>
                  <a:srgbClr val="FFFFFF"/>
                </a:solidFill>
              </a:rPr>
              <a:t>Enforced via dual client-side and backend atomic guards.</a:t>
            </a:r>
          </a:p>
          <a:p>
            <a:pPr>
              <a:spcAft>
                <a:spcPts val="800"/>
              </a:spcAft>
            </a:pPr>
            <a:r>
              <a:rPr b="1" sz="1450">
                <a:solidFill>
                  <a:srgbClr val="93C5FD"/>
                </a:solidFill>
              </a:rPr>
              <a:t>✓ Sub-50ms Queries
</a:t>
            </a:r>
            <a:r>
              <a:rPr sz="1200">
                <a:solidFill>
                  <a:srgbClr val="FFFFFF"/>
                </a:solidFill>
              </a:rPr>
              <a:t>Optimized with MongoDB compound indexes and referencing schema.</a:t>
            </a:r>
          </a:p>
          <a:p>
            <a:pPr>
              <a:spcAft>
                <a:spcPts val="800"/>
              </a:spcAft>
            </a:pPr>
            <a:r>
              <a:rPr b="1" sz="1450">
                <a:solidFill>
                  <a:srgbClr val="93C5FD"/>
                </a:solidFill>
              </a:rPr>
              <a:t>✓ Complete Audit Trail
</a:t>
            </a:r>
            <a:r>
              <a:rPr sz="1200">
                <a:solidFill>
                  <a:srgbClr val="FFFFFF"/>
                </a:solidFill>
              </a:rPr>
              <a:t>Every transaction logged permanently with user attribution.</a:t>
            </a:r>
          </a:p>
        </p:txBody>
      </p:sp>
      <p:sp>
        <p:nvSpPr>
          <p:cNvPr id="6" name="TextBox 5"/>
          <p:cNvSpPr txBox="1"/>
          <p:nvPr/>
        </p:nvSpPr>
        <p:spPr>
          <a:xfrm>
            <a:off x="5029200" y="1097280"/>
            <a:ext cx="6583680" cy="4114800"/>
          </a:xfrm>
          <a:prstGeom prst="rect">
            <a:avLst/>
          </a:prstGeom>
          <a:noFill/>
        </p:spPr>
        <p:txBody>
          <a:bodyPr wrap="square">
            <a:spAutoFit/>
          </a:bodyPr>
          <a:lstStyle/>
          <a:p>
            <a:pPr>
              <a:spcAft>
                <a:spcPts val="600"/>
              </a:spcAft>
              <a:defRPr b="1" sz="4600">
                <a:solidFill>
                  <a:srgbClr val="1D4ED8"/>
                </a:solidFill>
                <a:latin typeface="Calibri"/>
              </a:defRPr>
            </a:pPr>
            <a:r>
              <a:t>Thank You!</a:t>
            </a:r>
          </a:p>
          <a:p>
            <a:pPr>
              <a:spcAft>
                <a:spcPts val="1600"/>
              </a:spcAft>
              <a:defRPr b="1" sz="2200">
                <a:solidFill>
                  <a:srgbClr val="2563EB"/>
                </a:solidFill>
                <a:latin typeface="Calibri"/>
              </a:defRPr>
            </a:pPr>
            <a:r>
              <a:t>Questions &amp; Technical Discussion</a:t>
            </a:r>
          </a:p>
          <a:p>
            <a:pPr>
              <a:spcAft>
                <a:spcPts val="1600"/>
              </a:spcAft>
              <a:defRPr sz="1500">
                <a:solidFill>
                  <a:srgbClr val="334155"/>
                </a:solidFill>
              </a:defRPr>
            </a:pPr>
            <a:r>
              <a:t>SmartInventory demonstrates how modern full-stack web technologies and cloud document databases can transform manual warehouse operations into a fast, accurate, and completely transparent workflow.</a:t>
            </a:r>
          </a:p>
          <a:p>
            <a:r>
              <a:rPr b="1" sz="1300">
                <a:solidFill>
                  <a:srgbClr val="0F172A"/>
                </a:solidFill>
              </a:rPr>
              <a:t>• Live Application &amp; Source Code: </a:t>
            </a:r>
            <a:r>
              <a:rPr sz="1300">
                <a:solidFill>
                  <a:srgbClr val="2563EB"/>
                </a:solidFill>
              </a:rPr>
              <a:t>https://github.com/ShubhamKumar284/Inventory-Management-System
</a:t>
            </a:r>
            <a:r>
              <a:rPr b="1" sz="1300">
                <a:solidFill>
                  <a:srgbClr val="0F172A"/>
                </a:solidFill>
              </a:rPr>
              <a:t>• Technical Project Report: </a:t>
            </a:r>
            <a:r>
              <a:rPr sz="1300">
                <a:solidFill>
                  <a:srgbClr val="334155"/>
                </a:solidFill>
              </a:rPr>
              <a:t>Complete 15-page academic documentation available for review.
</a:t>
            </a:r>
          </a:p>
        </p:txBody>
      </p:sp>
      <p:sp>
        <p:nvSpPr>
          <p:cNvPr id="7" name="Rounded Rectangle 6"/>
          <p:cNvSpPr/>
          <p:nvPr/>
        </p:nvSpPr>
        <p:spPr>
          <a:xfrm>
            <a:off x="5029200" y="5303520"/>
            <a:ext cx="6583680" cy="100584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0" y="5376672"/>
            <a:ext cx="6217920" cy="859536"/>
          </a:xfrm>
          <a:prstGeom prst="rect">
            <a:avLst/>
          </a:prstGeom>
          <a:noFill/>
        </p:spPr>
        <p:txBody>
          <a:bodyPr wrap="square" lIns="0" tIns="0" rIns="0" bIns="0">
            <a:spAutoFit/>
          </a:bodyPr>
          <a:lstStyle/>
          <a:p>
            <a:r>
              <a:rPr b="1" sz="1200">
                <a:solidFill>
                  <a:srgbClr val="0D9488"/>
                </a:solidFill>
              </a:rPr>
              <a:t>TALKING POINT FOR PRESENTATION: </a:t>
            </a:r>
            <a:r>
              <a:rPr sz="1250">
                <a:solidFill>
                  <a:srgbClr val="0F172A"/>
                </a:solidFill>
              </a:rPr>
              <a:t>"Conclude by thanking the faculty guide and evaluation committee. State that you are prepared to demonstrate any live feature or dive deeper into the MongoDB queries and backend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